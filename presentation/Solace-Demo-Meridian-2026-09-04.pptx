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84" r:id="rId2"/>
  </p:sldMasterIdLst>
  <p:notesMasterIdLst>
    <p:notesMasterId r:id="rId19"/>
  </p:notesMasterIdLst>
  <p:sldIdLst>
    <p:sldId id="306" r:id="rId3"/>
    <p:sldId id="305" r:id="rId4"/>
    <p:sldId id="325" r:id="rId5"/>
    <p:sldId id="327" r:id="rId6"/>
    <p:sldId id="328" r:id="rId7"/>
    <p:sldId id="312" r:id="rId8"/>
    <p:sldId id="323" r:id="rId9"/>
    <p:sldId id="334" r:id="rId10"/>
    <p:sldId id="330" r:id="rId11"/>
    <p:sldId id="331" r:id="rId12"/>
    <p:sldId id="316" r:id="rId13"/>
    <p:sldId id="276" r:id="rId14"/>
    <p:sldId id="336" r:id="rId15"/>
    <p:sldId id="318" r:id="rId16"/>
    <p:sldId id="319" r:id="rId17"/>
    <p:sldId id="320" r:id="rId18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D6FF"/>
    <a:srgbClr val="5BB9EE"/>
    <a:srgbClr val="4C5F70"/>
    <a:srgbClr val="007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D988F-889B-483D-889E-02BC87B607D3}" v="14" dt="2026-09-04T14:03:31.2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6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72" d="100"/>
          <a:sy n="72" d="100"/>
        </p:scale>
        <p:origin x="2472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august" userId="0e1c2837a28b706a" providerId="LiveId" clId="{AD05CBBD-285A-40D0-ABA1-E4D8FAD69F9B}"/>
    <pc:docChg chg="undo custSel addSld delSld modSld sldOrd modNotesMaster">
      <pc:chgData name="tony august" userId="0e1c2837a28b706a" providerId="LiveId" clId="{AD05CBBD-285A-40D0-ABA1-E4D8FAD69F9B}" dt="2026-09-04T14:55:52.363" v="3616" actId="20577"/>
      <pc:docMkLst>
        <pc:docMk/>
      </pc:docMkLst>
      <pc:sldChg chg="addSp delSp modSp add mod">
        <pc:chgData name="tony august" userId="0e1c2837a28b706a" providerId="LiveId" clId="{AD05CBBD-285A-40D0-ABA1-E4D8FAD69F9B}" dt="2026-09-04T14:07:07.855" v="3258" actId="6549"/>
        <pc:sldMkLst>
          <pc:docMk/>
          <pc:sldMk cId="3530555159" sldId="276"/>
        </pc:sldMkLst>
        <pc:spChg chg="mod">
          <ac:chgData name="tony august" userId="0e1c2837a28b706a" providerId="LiveId" clId="{AD05CBBD-285A-40D0-ABA1-E4D8FAD69F9B}" dt="2026-09-04T05:45:48.720" v="2051" actId="6549"/>
          <ac:spMkLst>
            <pc:docMk/>
            <pc:sldMk cId="3530555159" sldId="276"/>
            <ac:spMk id="2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8:43.113" v="2073" actId="1076"/>
          <ac:spMkLst>
            <pc:docMk/>
            <pc:sldMk cId="3530555159" sldId="276"/>
            <ac:spMk id="4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3:43.141" v="2089" actId="208"/>
          <ac:spMkLst>
            <pc:docMk/>
            <pc:sldMk cId="3530555159" sldId="276"/>
            <ac:spMk id="10" creationId="{00000000-0000-0000-0000-000000000000}"/>
          </ac:spMkLst>
        </pc:spChg>
        <pc:spChg chg="add del mod">
          <ac:chgData name="tony august" userId="0e1c2837a28b706a" providerId="LiveId" clId="{AD05CBBD-285A-40D0-ABA1-E4D8FAD69F9B}" dt="2026-09-04T05:47:39.787" v="2064" actId="478"/>
          <ac:spMkLst>
            <pc:docMk/>
            <pc:sldMk cId="3530555159" sldId="276"/>
            <ac:spMk id="16" creationId="{5D855CD7-9A12-29AC-37BC-FD426879CB51}"/>
          </ac:spMkLst>
        </pc:spChg>
        <pc:spChg chg="mod">
          <ac:chgData name="tony august" userId="0e1c2837a28b706a" providerId="LiveId" clId="{AD05CBBD-285A-40D0-ABA1-E4D8FAD69F9B}" dt="2026-09-04T05:48:46.983" v="2074" actId="1037"/>
          <ac:spMkLst>
            <pc:docMk/>
            <pc:sldMk cId="3530555159" sldId="276"/>
            <ac:spMk id="25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05:48:32.984" v="2071" actId="1582"/>
          <ac:spMkLst>
            <pc:docMk/>
            <pc:sldMk cId="3530555159" sldId="276"/>
            <ac:spMk id="27" creationId="{B070FF0D-59FB-DB52-A761-C7CC12BB6096}"/>
          </ac:spMkLst>
        </pc:spChg>
        <pc:spChg chg="mod">
          <ac:chgData name="tony august" userId="0e1c2837a28b706a" providerId="LiveId" clId="{AD05CBBD-285A-40D0-ABA1-E4D8FAD69F9B}" dt="2026-09-04T05:55:13.155" v="2099" actId="1076"/>
          <ac:spMkLst>
            <pc:docMk/>
            <pc:sldMk cId="3530555159" sldId="276"/>
            <ac:spMk id="30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6:27.961" v="2057" actId="20577"/>
          <ac:spMkLst>
            <pc:docMk/>
            <pc:sldMk cId="3530555159" sldId="276"/>
            <ac:spMk id="31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8:04.342" v="2069" actId="14100"/>
          <ac:spMkLst>
            <pc:docMk/>
            <pc:sldMk cId="3530555159" sldId="276"/>
            <ac:spMk id="43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0:13.900" v="2077" actId="14100"/>
          <ac:spMkLst>
            <pc:docMk/>
            <pc:sldMk cId="3530555159" sldId="276"/>
            <ac:spMk id="45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7:07.855" v="3258" actId="6549"/>
          <ac:spMkLst>
            <pc:docMk/>
            <pc:sldMk cId="3530555159" sldId="276"/>
            <ac:spMk id="47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7:54.698" v="2111" actId="1076"/>
          <ac:spMkLst>
            <pc:docMk/>
            <pc:sldMk cId="3530555159" sldId="276"/>
            <ac:spMk id="48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06:02:04.717" v="2115" actId="1076"/>
          <ac:spMkLst>
            <pc:docMk/>
            <pc:sldMk cId="3530555159" sldId="276"/>
            <ac:spMk id="50" creationId="{0DCA7C0D-D61A-63A1-A946-F26AFCDDCCFA}"/>
          </ac:spMkLst>
        </pc:spChg>
        <pc:spChg chg="mod">
          <ac:chgData name="tony august" userId="0e1c2837a28b706a" providerId="LiveId" clId="{AD05CBBD-285A-40D0-ABA1-E4D8FAD69F9B}" dt="2026-09-04T05:50:09.551" v="2076" actId="14100"/>
          <ac:spMkLst>
            <pc:docMk/>
            <pc:sldMk cId="3530555159" sldId="276"/>
            <ac:spMk id="69" creationId="{941D0095-2D6A-C8F5-6DFB-F38AE841A191}"/>
          </ac:spMkLst>
        </pc:spChg>
        <pc:picChg chg="del mod">
          <ac:chgData name="tony august" userId="0e1c2837a28b706a" providerId="LiveId" clId="{AD05CBBD-285A-40D0-ABA1-E4D8FAD69F9B}" dt="2026-09-04T05:57:01.618" v="2105" actId="478"/>
          <ac:picMkLst>
            <pc:docMk/>
            <pc:sldMk cId="3530555159" sldId="276"/>
            <ac:picMk id="46" creationId="{00000000-0000-0000-0000-000000000000}"/>
          </ac:picMkLst>
        </pc:picChg>
        <pc:picChg chg="add mod">
          <ac:chgData name="tony august" userId="0e1c2837a28b706a" providerId="LiveId" clId="{AD05CBBD-285A-40D0-ABA1-E4D8FAD69F9B}" dt="2026-09-04T05:57:08.230" v="2106" actId="1076"/>
          <ac:picMkLst>
            <pc:docMk/>
            <pc:sldMk cId="3530555159" sldId="276"/>
            <ac:picMk id="49" creationId="{38CD5D56-51CC-3D54-0B7A-E56DA29C0293}"/>
          </ac:picMkLst>
        </pc:picChg>
        <pc:picChg chg="add mod">
          <ac:chgData name="tony august" userId="0e1c2837a28b706a" providerId="LiveId" clId="{AD05CBBD-285A-40D0-ABA1-E4D8FAD69F9B}" dt="2026-09-04T05:57:42.911" v="2110" actId="465"/>
          <ac:picMkLst>
            <pc:docMk/>
            <pc:sldMk cId="3530555159" sldId="276"/>
            <ac:picMk id="64" creationId="{A4D94555-7BB3-7A47-9A28-0E1D748AB778}"/>
          </ac:picMkLst>
        </pc:picChg>
        <pc:picChg chg="add mod">
          <ac:chgData name="tony august" userId="0e1c2837a28b706a" providerId="LiveId" clId="{AD05CBBD-285A-40D0-ABA1-E4D8FAD69F9B}" dt="2026-09-04T05:57:20.661" v="2108" actId="1076"/>
          <ac:picMkLst>
            <pc:docMk/>
            <pc:sldMk cId="3530555159" sldId="276"/>
            <ac:picMk id="68" creationId="{AD56B588-4E4E-64C1-4A6D-ADCB3B4E74FF}"/>
          </ac:picMkLst>
        </pc:picChg>
      </pc:sldChg>
      <pc:sldChg chg="addSp delSp modSp add mod modNotes">
        <pc:chgData name="tony august" userId="0e1c2837a28b706a" providerId="LiveId" clId="{AD05CBBD-285A-40D0-ABA1-E4D8FAD69F9B}" dt="2026-09-03T02:02:18.310" v="1243" actId="20577"/>
        <pc:sldMkLst>
          <pc:docMk/>
          <pc:sldMk cId="3008254902" sldId="305"/>
        </pc:sldMkLst>
        <pc:spChg chg="mod">
          <ac:chgData name="tony august" userId="0e1c2837a28b706a" providerId="LiveId" clId="{AD05CBBD-285A-40D0-ABA1-E4D8FAD69F9B}" dt="2026-09-02T23:04:44.953" v="1209" actId="20577"/>
          <ac:spMkLst>
            <pc:docMk/>
            <pc:sldMk cId="3008254902" sldId="305"/>
            <ac:spMk id="8" creationId="{379ADECF-01D5-4E38-AE26-C209C91DFF53}"/>
          </ac:spMkLst>
        </pc:spChg>
        <pc:spChg chg="add mod">
          <ac:chgData name="tony august" userId="0e1c2837a28b706a" providerId="LiveId" clId="{AD05CBBD-285A-40D0-ABA1-E4D8FAD69F9B}" dt="2026-09-03T02:01:56.681" v="1214" actId="1076"/>
          <ac:spMkLst>
            <pc:docMk/>
            <pc:sldMk cId="3008254902" sldId="305"/>
            <ac:spMk id="12" creationId="{1C023DCC-2AFE-40C2-AD96-576EE1B1AFFA}"/>
          </ac:spMkLst>
        </pc:spChg>
        <pc:spChg chg="mod">
          <ac:chgData name="tony august" userId="0e1c2837a28b706a" providerId="LiveId" clId="{AD05CBBD-285A-40D0-ABA1-E4D8FAD69F9B}" dt="2026-09-03T02:02:09.490" v="1239" actId="20577"/>
          <ac:spMkLst>
            <pc:docMk/>
            <pc:sldMk cId="3008254902" sldId="305"/>
            <ac:spMk id="16" creationId="{8804765A-CB9C-46F6-8973-800AFED839EA}"/>
          </ac:spMkLst>
        </pc:spChg>
        <pc:spChg chg="mod">
          <ac:chgData name="tony august" userId="0e1c2837a28b706a" providerId="LiveId" clId="{AD05CBBD-285A-40D0-ABA1-E4D8FAD69F9B}" dt="2026-09-03T02:01:59.494" v="1216" actId="1076"/>
          <ac:spMkLst>
            <pc:docMk/>
            <pc:sldMk cId="3008254902" sldId="305"/>
            <ac:spMk id="18" creationId="{3D296178-C3B9-4F82-A260-D44B8F78232E}"/>
          </ac:spMkLst>
        </pc:spChg>
        <pc:spChg chg="mod">
          <ac:chgData name="tony august" userId="0e1c2837a28b706a" providerId="LiveId" clId="{AD05CBBD-285A-40D0-ABA1-E4D8FAD69F9B}" dt="2026-09-03T02:02:18.310" v="1243" actId="20577"/>
          <ac:spMkLst>
            <pc:docMk/>
            <pc:sldMk cId="3008254902" sldId="305"/>
            <ac:spMk id="20" creationId="{8529438C-B1F6-4B6B-99BB-93E07F16BFD1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691641304" sldId="306"/>
        </pc:sldMkLst>
      </pc:sldChg>
      <pc:sldChg chg="modSp add del mod modNotes">
        <pc:chgData name="tony august" userId="0e1c2837a28b706a" providerId="LiveId" clId="{AD05CBBD-285A-40D0-ABA1-E4D8FAD69F9B}" dt="2026-09-04T01:17:34.298" v="1314"/>
        <pc:sldMkLst>
          <pc:docMk/>
          <pc:sldMk cId="675931389" sldId="310"/>
        </pc:sldMkLst>
      </pc:sldChg>
      <pc:sldChg chg="modSp add del mod modNotes">
        <pc:chgData name="tony august" userId="0e1c2837a28b706a" providerId="LiveId" clId="{AD05CBBD-285A-40D0-ABA1-E4D8FAD69F9B}" dt="2026-09-04T01:17:54.179" v="1316"/>
        <pc:sldMkLst>
          <pc:docMk/>
          <pc:sldMk cId="1822803354" sldId="311"/>
        </pc:sldMkLst>
        <pc:spChg chg="mod">
          <ac:chgData name="tony august" userId="0e1c2837a28b706a" providerId="LiveId" clId="{AD05CBBD-285A-40D0-ABA1-E4D8FAD69F9B}" dt="2026-09-03T22:45:45.445" v="1312" actId="20577"/>
          <ac:spMkLst>
            <pc:docMk/>
            <pc:sldMk cId="1822803354" sldId="311"/>
            <ac:spMk id="5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3719941013" sldId="312"/>
        </pc:sldMkLst>
      </pc:sldChg>
      <pc:sldChg chg="modSp add del mod modNotes">
        <pc:chgData name="tony august" userId="0e1c2837a28b706a" providerId="LiveId" clId="{AD05CBBD-285A-40D0-ABA1-E4D8FAD69F9B}" dt="2026-09-04T01:26:50.434" v="1350"/>
        <pc:sldMkLst>
          <pc:docMk/>
          <pc:sldMk cId="1668422566" sldId="313"/>
        </pc:sldMkLst>
        <pc:spChg chg="mod">
          <ac:chgData name="tony august" userId="0e1c2837a28b706a" providerId="LiveId" clId="{AD05CBBD-285A-40D0-ABA1-E4D8FAD69F9B}" dt="2026-09-03T22:42:48.594" v="1288" actId="20577"/>
          <ac:spMkLst>
            <pc:docMk/>
            <pc:sldMk cId="1668422566" sldId="313"/>
            <ac:spMk id="8" creationId="{00000000-0000-0000-0000-000000000000}"/>
          </ac:spMkLst>
        </pc:spChg>
      </pc:sldChg>
      <pc:sldChg chg="add del modNotes">
        <pc:chgData name="tony august" userId="0e1c2837a28b706a" providerId="LiveId" clId="{AD05CBBD-285A-40D0-ABA1-E4D8FAD69F9B}" dt="2026-09-04T01:27:15.418" v="1352"/>
        <pc:sldMkLst>
          <pc:docMk/>
          <pc:sldMk cId="2895315029" sldId="314"/>
        </pc:sldMkLst>
      </pc:sldChg>
      <pc:sldChg chg="modSp add del mod modNotes">
        <pc:chgData name="tony august" userId="0e1c2837a28b706a" providerId="LiveId" clId="{AD05CBBD-285A-40D0-ABA1-E4D8FAD69F9B}" dt="2026-09-04T01:27:35.321" v="1354"/>
        <pc:sldMkLst>
          <pc:docMk/>
          <pc:sldMk cId="640516793" sldId="315"/>
        </pc:sldMkLst>
        <pc:spChg chg="mod">
          <ac:chgData name="tony august" userId="0e1c2837a28b706a" providerId="LiveId" clId="{AD05CBBD-285A-40D0-ABA1-E4D8FAD69F9B}" dt="2026-09-03T22:42:36.276" v="1276" actId="20577"/>
          <ac:spMkLst>
            <pc:docMk/>
            <pc:sldMk cId="640516793" sldId="315"/>
            <ac:spMk id="7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2609383768" sldId="316"/>
        </pc:sldMkLst>
      </pc:sldChg>
      <pc:sldChg chg="modSp add del mod modNotes">
        <pc:chgData name="tony august" userId="0e1c2837a28b706a" providerId="LiveId" clId="{AD05CBBD-285A-40D0-ABA1-E4D8FAD69F9B}" dt="2026-09-04T01:27:53.673" v="1356"/>
        <pc:sldMkLst>
          <pc:docMk/>
          <pc:sldMk cId="1343424890" sldId="317"/>
        </pc:sldMkLst>
        <pc:spChg chg="mod">
          <ac:chgData name="tony august" userId="0e1c2837a28b706a" providerId="LiveId" clId="{AD05CBBD-285A-40D0-ABA1-E4D8FAD69F9B}" dt="2026-09-03T22:42:04.110" v="1252" actId="20577"/>
          <ac:spMkLst>
            <pc:docMk/>
            <pc:sldMk cId="1343424890" sldId="317"/>
            <ac:spMk id="7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1731175350" sldId="318"/>
        </pc:sldMkLst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501147724" sldId="319"/>
        </pc:sldMkLst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3550236996" sldId="320"/>
        </pc:sldMkLst>
      </pc:sldChg>
      <pc:sldChg chg="delSp mod">
        <pc:chgData name="tony august" userId="0e1c2837a28b706a" providerId="LiveId" clId="{AD05CBBD-285A-40D0-ABA1-E4D8FAD69F9B}" dt="2026-09-03T02:17:51.378" v="1244" actId="478"/>
        <pc:sldMkLst>
          <pc:docMk/>
          <pc:sldMk cId="0" sldId="321"/>
        </pc:sldMkLst>
        <pc:spChg chg="del">
          <ac:chgData name="tony august" userId="0e1c2837a28b706a" providerId="LiveId" clId="{AD05CBBD-285A-40D0-ABA1-E4D8FAD69F9B}" dt="2026-09-03T02:17:51.378" v="1244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tony august" userId="0e1c2837a28b706a" providerId="LiveId" clId="{AD05CBBD-285A-40D0-ABA1-E4D8FAD69F9B}" dt="2026-09-03T02:17:51.378" v="1244" actId="478"/>
          <ac:spMkLst>
            <pc:docMk/>
            <pc:sldMk cId="0" sldId="321"/>
            <ac:spMk id="6" creationId="{00000000-0000-0000-0000-000000000000}"/>
          </ac:spMkLst>
        </pc:spChg>
      </pc:sldChg>
      <pc:sldChg chg="modSp mod">
        <pc:chgData name="tony august" userId="0e1c2837a28b706a" providerId="LiveId" clId="{AD05CBBD-285A-40D0-ABA1-E4D8FAD69F9B}" dt="2026-09-04T07:07:43.940" v="3069" actId="20577"/>
        <pc:sldMkLst>
          <pc:docMk/>
          <pc:sldMk cId="4248351729" sldId="323"/>
        </pc:sldMkLst>
        <pc:spChg chg="mod">
          <ac:chgData name="tony august" userId="0e1c2837a28b706a" providerId="LiveId" clId="{AD05CBBD-285A-40D0-ABA1-E4D8FAD69F9B}" dt="2026-09-04T07:07:43.940" v="3069" actId="20577"/>
          <ac:spMkLst>
            <pc:docMk/>
            <pc:sldMk cId="4248351729" sldId="323"/>
            <ac:spMk id="2" creationId="{00000000-0000-0000-0000-000000000000}"/>
          </ac:spMkLst>
        </pc:spChg>
      </pc:sldChg>
      <pc:sldChg chg="modSp del mod">
        <pc:chgData name="tony august" userId="0e1c2837a28b706a" providerId="LiveId" clId="{AD05CBBD-285A-40D0-ABA1-E4D8FAD69F9B}" dt="2026-09-04T01:28:11.763" v="1358"/>
        <pc:sldMkLst>
          <pc:docMk/>
          <pc:sldMk cId="0" sldId="326"/>
        </pc:sldMkLst>
        <pc:spChg chg="mod">
          <ac:chgData name="tony august" userId="0e1c2837a28b706a" providerId="LiveId" clId="{AD05CBBD-285A-40D0-ABA1-E4D8FAD69F9B}" dt="2026-09-03T22:42:12.702" v="1260" actId="20577"/>
          <ac:spMkLst>
            <pc:docMk/>
            <pc:sldMk cId="0" sldId="326"/>
            <ac:spMk id="7" creationId="{00000000-0000-0000-0000-000000000000}"/>
          </ac:spMkLst>
        </pc:spChg>
      </pc:sldChg>
      <pc:sldChg chg="modSp add mod">
        <pc:chgData name="tony august" userId="0e1c2837a28b706a" providerId="LiveId" clId="{AD05CBBD-285A-40D0-ABA1-E4D8FAD69F9B}" dt="2026-09-04T14:23:39.089" v="3614" actId="313"/>
        <pc:sldMkLst>
          <pc:docMk/>
          <pc:sldMk cId="698426052" sldId="327"/>
        </pc:sldMkLst>
        <pc:spChg chg="mod">
          <ac:chgData name="tony august" userId="0e1c2837a28b706a" providerId="LiveId" clId="{AD05CBBD-285A-40D0-ABA1-E4D8FAD69F9B}" dt="2026-09-04T14:23:39.089" v="3614" actId="313"/>
          <ac:spMkLst>
            <pc:docMk/>
            <pc:sldMk cId="698426052" sldId="327"/>
            <ac:spMk id="7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3" v="1334"/>
          <ac:spMkLst>
            <pc:docMk/>
            <pc:sldMk cId="698426052" sldId="327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5" v="1336"/>
          <ac:spMkLst>
            <pc:docMk/>
            <pc:sldMk cId="698426052" sldId="327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6" v="1337"/>
          <ac:spMkLst>
            <pc:docMk/>
            <pc:sldMk cId="698426052" sldId="327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7" v="1339"/>
          <ac:spMkLst>
            <pc:docMk/>
            <pc:sldMk cId="698426052" sldId="327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8" v="1341"/>
          <ac:spMkLst>
            <pc:docMk/>
            <pc:sldMk cId="698426052" sldId="327"/>
            <ac:spMk id="204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21:42.413" v="3526" actId="114"/>
          <ac:spMkLst>
            <pc:docMk/>
            <pc:sldMk cId="698426052" sldId="327"/>
            <ac:spMk id="205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83" v="1344"/>
          <ac:spMkLst>
            <pc:docMk/>
            <pc:sldMk cId="698426052" sldId="327"/>
            <ac:spMk id="206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84" v="1346"/>
          <ac:spMkLst>
            <pc:docMk/>
            <pc:sldMk cId="698426052" sldId="327"/>
            <ac:spMk id="207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16:35.464" v="3339" actId="20577"/>
          <ac:spMkLst>
            <pc:docMk/>
            <pc:sldMk cId="698426052" sldId="327"/>
            <ac:spMk id="208" creationId="{00000000-0000-0000-0000-000000000000}"/>
          </ac:spMkLst>
        </pc:spChg>
        <pc:picChg chg="mod">
          <ac:chgData name="tony august" userId="0e1c2837a28b706a" providerId="LiveId" clId="{AD05CBBD-285A-40D0-ABA1-E4D8FAD69F9B}" dt="2026-09-04T14:08:44.648" v="3288" actId="1036"/>
          <ac:picMkLst>
            <pc:docMk/>
            <pc:sldMk cId="698426052" sldId="327"/>
            <ac:picMk id="8" creationId="{236F97E8-E7E6-C643-B8A4-F1EC34D363CE}"/>
          </ac:picMkLst>
        </pc:picChg>
      </pc:sldChg>
      <pc:sldChg chg="add">
        <pc:chgData name="tony august" userId="0e1c2837a28b706a" providerId="LiveId" clId="{AD05CBBD-285A-40D0-ABA1-E4D8FAD69F9B}" dt="2026-09-04T01:17:54.173" v="1315"/>
        <pc:sldMkLst>
          <pc:docMk/>
          <pc:sldMk cId="4061422271" sldId="328"/>
        </pc:sldMkLst>
      </pc:sldChg>
      <pc:sldChg chg="add del">
        <pc:chgData name="tony august" userId="0e1c2837a28b706a" providerId="LiveId" clId="{AD05CBBD-285A-40D0-ABA1-E4D8FAD69F9B}" dt="2026-09-04T01:28:30.066" v="1360"/>
        <pc:sldMkLst>
          <pc:docMk/>
          <pc:sldMk cId="1139307564" sldId="329"/>
        </pc:sldMkLst>
      </pc:sldChg>
      <pc:sldChg chg="modSp add mod">
        <pc:chgData name="tony august" userId="0e1c2837a28b706a" providerId="LiveId" clId="{AD05CBBD-285A-40D0-ABA1-E4D8FAD69F9B}" dt="2026-09-04T07:11:44.165" v="3200" actId="6549"/>
        <pc:sldMkLst>
          <pc:docMk/>
          <pc:sldMk cId="2843641642" sldId="330"/>
        </pc:sldMkLst>
        <pc:spChg chg="mod">
          <ac:chgData name="tony august" userId="0e1c2837a28b706a" providerId="LiveId" clId="{AD05CBBD-285A-40D0-ABA1-E4D8FAD69F9B}" dt="2026-09-04T07:11:44.165" v="3200" actId="6549"/>
          <ac:spMkLst>
            <pc:docMk/>
            <pc:sldMk cId="2843641642" sldId="330"/>
            <ac:spMk id="2" creationId="{00000000-0000-0000-0000-000000000000}"/>
          </ac:spMkLst>
        </pc:spChg>
      </pc:sldChg>
      <pc:sldChg chg="modSp add mod">
        <pc:chgData name="tony august" userId="0e1c2837a28b706a" providerId="LiveId" clId="{AD05CBBD-285A-40D0-ABA1-E4D8FAD69F9B}" dt="2026-09-04T07:11:56.131" v="3217" actId="20577"/>
        <pc:sldMkLst>
          <pc:docMk/>
          <pc:sldMk cId="2488136294" sldId="331"/>
        </pc:sldMkLst>
        <pc:spChg chg="mod">
          <ac:chgData name="tony august" userId="0e1c2837a28b706a" providerId="LiveId" clId="{AD05CBBD-285A-40D0-ABA1-E4D8FAD69F9B}" dt="2026-09-04T07:11:56.131" v="3217" actId="20577"/>
          <ac:spMkLst>
            <pc:docMk/>
            <pc:sldMk cId="2488136294" sldId="331"/>
            <ac:spMk id="2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05:15.865" v="1494" actId="20577"/>
          <ac:spMkLst>
            <pc:docMk/>
            <pc:sldMk cId="2488136294" sldId="331"/>
            <ac:spMk id="3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51:38.117" v="1418" actId="20577"/>
          <ac:spMkLst>
            <pc:docMk/>
            <pc:sldMk cId="2488136294" sldId="331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29:45.929" v="1749" actId="6549"/>
          <ac:spMkLst>
            <pc:docMk/>
            <pc:sldMk cId="2488136294" sldId="331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27:01.396" v="1558" actId="6549"/>
          <ac:spMkLst>
            <pc:docMk/>
            <pc:sldMk cId="2488136294" sldId="331"/>
            <ac:spMk id="207" creationId="{00000000-0000-0000-0000-000000000000}"/>
          </ac:spMkLst>
        </pc:spChg>
      </pc:sldChg>
      <pc:sldChg chg="add del mod ord modShow">
        <pc:chgData name="tony august" userId="0e1c2837a28b706a" providerId="LiveId" clId="{AD05CBBD-285A-40D0-ABA1-E4D8FAD69F9B}" dt="2026-09-04T05:59:49.720" v="2114" actId="47"/>
        <pc:sldMkLst>
          <pc:docMk/>
          <pc:sldMk cId="1453052294" sldId="332"/>
        </pc:sldMkLst>
      </pc:sldChg>
      <pc:sldChg chg="modSp add del mod">
        <pc:chgData name="tony august" userId="0e1c2837a28b706a" providerId="LiveId" clId="{AD05CBBD-285A-40D0-ABA1-E4D8FAD69F9B}" dt="2026-09-04T06:22:49.929" v="2118"/>
        <pc:sldMkLst>
          <pc:docMk/>
          <pc:sldMk cId="2392921007" sldId="333"/>
        </pc:sldMkLst>
        <pc:spChg chg="mod">
          <ac:chgData name="tony august" userId="0e1c2837a28b706a" providerId="LiveId" clId="{AD05CBBD-285A-40D0-ABA1-E4D8FAD69F9B}" dt="2026-09-04T06:12:06.955" v="2116" actId="1076"/>
          <ac:spMkLst>
            <pc:docMk/>
            <pc:sldMk cId="2392921007" sldId="333"/>
            <ac:spMk id="6" creationId="{00000000-0000-0000-0000-000000000000}"/>
          </ac:spMkLst>
        </pc:spChg>
      </pc:sldChg>
      <pc:sldChg chg="addSp modSp add mod">
        <pc:chgData name="tony august" userId="0e1c2837a28b706a" providerId="LiveId" clId="{AD05CBBD-285A-40D0-ABA1-E4D8FAD69F9B}" dt="2026-09-04T07:12:27.580" v="3224" actId="20577"/>
        <pc:sldMkLst>
          <pc:docMk/>
          <pc:sldMk cId="3136990422" sldId="334"/>
        </pc:sldMkLst>
        <pc:spChg chg="mod">
          <ac:chgData name="tony august" userId="0e1c2837a28b706a" providerId="LiveId" clId="{AD05CBBD-285A-40D0-ABA1-E4D8FAD69F9B}" dt="2026-09-04T07:12:27.580" v="3224" actId="20577"/>
          <ac:spMkLst>
            <pc:docMk/>
            <pc:sldMk cId="3136990422" sldId="334"/>
            <ac:spMk id="2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2" v="1752"/>
          <ac:spMkLst>
            <pc:docMk/>
            <pc:sldMk cId="3136990422" sldId="334"/>
            <ac:spMk id="7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39" v="1750"/>
          <ac:spMkLst>
            <pc:docMk/>
            <pc:sldMk cId="3136990422" sldId="334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3" v="1753"/>
          <ac:spMkLst>
            <pc:docMk/>
            <pc:sldMk cId="3136990422" sldId="334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6" v="1756"/>
          <ac:spMkLst>
            <pc:docMk/>
            <pc:sldMk cId="3136990422" sldId="334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3" v="1754"/>
          <ac:spMkLst>
            <pc:docMk/>
            <pc:sldMk cId="3136990422" sldId="334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6" v="1757"/>
          <ac:spMkLst>
            <pc:docMk/>
            <pc:sldMk cId="3136990422" sldId="334"/>
            <ac:spMk id="204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5" v="1755"/>
          <ac:spMkLst>
            <pc:docMk/>
            <pc:sldMk cId="3136990422" sldId="334"/>
            <ac:spMk id="205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7" v="1758"/>
          <ac:spMkLst>
            <pc:docMk/>
            <pc:sldMk cId="3136990422" sldId="334"/>
            <ac:spMk id="206" creationId="{00000000-0000-0000-0000-000000000000}"/>
          </ac:spMkLst>
        </pc:spChg>
        <pc:picChg chg="add mod">
          <ac:chgData name="tony august" userId="0e1c2837a28b706a" providerId="LiveId" clId="{AD05CBBD-285A-40D0-ABA1-E4D8FAD69F9B}" dt="2026-09-04T07:02:19.645" v="3051" actId="1076"/>
          <ac:picMkLst>
            <pc:docMk/>
            <pc:sldMk cId="3136990422" sldId="334"/>
            <ac:picMk id="8" creationId="{43B64F87-3567-2096-7509-BA848F2FB1B1}"/>
          </ac:picMkLst>
        </pc:picChg>
      </pc:sldChg>
      <pc:sldChg chg="modSp add del mod">
        <pc:chgData name="tony august" userId="0e1c2837a28b706a" providerId="LiveId" clId="{AD05CBBD-285A-40D0-ABA1-E4D8FAD69F9B}" dt="2026-09-04T06:23:23.149" v="2128"/>
        <pc:sldMkLst>
          <pc:docMk/>
          <pc:sldMk cId="1796555840" sldId="335"/>
        </pc:sldMkLst>
        <pc:spChg chg="mod">
          <ac:chgData name="tony august" userId="0e1c2837a28b706a" providerId="LiveId" clId="{AD05CBBD-285A-40D0-ABA1-E4D8FAD69F9B}" dt="2026-09-04T06:22:50.487" v="2120"/>
          <ac:spMkLst>
            <pc:docMk/>
            <pc:sldMk cId="1796555840" sldId="335"/>
            <ac:spMk id="6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2:50.490" v="2122"/>
          <ac:spMkLst>
            <pc:docMk/>
            <pc:sldMk cId="1796555840" sldId="335"/>
            <ac:spMk id="9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3" v="2123"/>
          <ac:spMkLst>
            <pc:docMk/>
            <pc:sldMk cId="1796555840" sldId="335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4"/>
          <ac:spMkLst>
            <pc:docMk/>
            <pc:sldMk cId="1796555840" sldId="335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5"/>
          <ac:spMkLst>
            <pc:docMk/>
            <pc:sldMk cId="1796555840" sldId="335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6"/>
          <ac:spMkLst>
            <pc:docMk/>
            <pc:sldMk cId="1796555840" sldId="335"/>
            <ac:spMk id="203" creationId="{00000000-0000-0000-0000-000000000000}"/>
          </ac:spMkLst>
        </pc:spChg>
      </pc:sldChg>
      <pc:sldChg chg="addSp modSp add mod">
        <pc:chgData name="tony august" userId="0e1c2837a28b706a" providerId="LiveId" clId="{AD05CBBD-285A-40D0-ABA1-E4D8FAD69F9B}" dt="2026-09-04T14:55:52.363" v="3616" actId="20577"/>
        <pc:sldMkLst>
          <pc:docMk/>
          <pc:sldMk cId="2837592851" sldId="336"/>
        </pc:sldMkLst>
        <pc:spChg chg="mod">
          <ac:chgData name="tony august" userId="0e1c2837a28b706a" providerId="LiveId" clId="{AD05CBBD-285A-40D0-ABA1-E4D8FAD69F9B}" dt="2026-09-04T14:05:50.220" v="3247" actId="1076"/>
          <ac:spMkLst>
            <pc:docMk/>
            <pc:sldMk cId="2837592851" sldId="336"/>
            <ac:spMk id="2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55:52.363" v="3616" actId="20577"/>
          <ac:spMkLst>
            <pc:docMk/>
            <pc:sldMk cId="2837592851" sldId="336"/>
            <ac:spMk id="3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5:50.220" v="3247" actId="1076"/>
          <ac:spMkLst>
            <pc:docMk/>
            <pc:sldMk cId="2837592851" sldId="336"/>
            <ac:spMk id="4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5:50.220" v="3247" actId="1076"/>
          <ac:spMkLst>
            <pc:docMk/>
            <pc:sldMk cId="2837592851" sldId="336"/>
            <ac:spMk id="5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7:30.469" v="3261" actId="403"/>
          <ac:spMkLst>
            <pc:docMk/>
            <pc:sldMk cId="2837592851" sldId="336"/>
            <ac:spMk id="6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9:47.997" v="2177" actId="14100"/>
          <ac:spMkLst>
            <pc:docMk/>
            <pc:sldMk cId="2837592851" sldId="336"/>
            <ac:spMk id="8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5:30.951" v="3246" actId="404"/>
          <ac:spMkLst>
            <pc:docMk/>
            <pc:sldMk cId="2837592851" sldId="336"/>
            <ac:spMk id="9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14:05:50.220" v="3247" actId="1076"/>
          <ac:spMkLst>
            <pc:docMk/>
            <pc:sldMk cId="2837592851" sldId="336"/>
            <ac:spMk id="10" creationId="{DE676705-2D4C-318E-49C9-5548E3207ADA}"/>
          </ac:spMkLst>
        </pc:spChg>
        <pc:spChg chg="add mod">
          <ac:chgData name="tony august" userId="0e1c2837a28b706a" providerId="LiveId" clId="{AD05CBBD-285A-40D0-ABA1-E4D8FAD69F9B}" dt="2026-09-04T14:55:33.158" v="3615" actId="1076"/>
          <ac:spMkLst>
            <pc:docMk/>
            <pc:sldMk cId="2837592851" sldId="336"/>
            <ac:spMk id="11" creationId="{75E40F59-0269-84C2-8106-7D5906A7E39F}"/>
          </ac:spMkLst>
        </pc:spChg>
        <pc:spChg chg="mod">
          <ac:chgData name="tony august" userId="0e1c2837a28b706a" providerId="LiveId" clId="{AD05CBBD-285A-40D0-ABA1-E4D8FAD69F9B}" dt="2026-09-04T14:08:04.521" v="3265" actId="1076"/>
          <ac:spMkLst>
            <pc:docMk/>
            <pc:sldMk cId="2837592851" sldId="336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8:04.521" v="3265" actId="1076"/>
          <ac:spMkLst>
            <pc:docMk/>
            <pc:sldMk cId="2837592851" sldId="336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8:04.521" v="3265" actId="1076"/>
          <ac:spMkLst>
            <pc:docMk/>
            <pc:sldMk cId="2837592851" sldId="336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14:08:04.521" v="3265" actId="1076"/>
          <ac:spMkLst>
            <pc:docMk/>
            <pc:sldMk cId="2837592851" sldId="336"/>
            <ac:spMk id="203" creationId="{00000000-0000-0000-0000-000000000000}"/>
          </ac:spMkLst>
        </pc:spChg>
        <pc:picChg chg="add mod modCrop">
          <ac:chgData name="tony august" userId="0e1c2837a28b706a" providerId="LiveId" clId="{AD05CBBD-285A-40D0-ABA1-E4D8FAD69F9B}" dt="2026-09-04T07:00:56.792" v="3047"/>
          <ac:picMkLst>
            <pc:docMk/>
            <pc:sldMk cId="2837592851" sldId="336"/>
            <ac:picMk id="7" creationId="{3A49C4D0-2E17-0A15-575C-60424F98F838}"/>
          </ac:picMkLst>
        </pc:picChg>
        <pc:picChg chg="add mod">
          <ac:chgData name="tony august" userId="0e1c2837a28b706a" providerId="LiveId" clId="{AD05CBBD-285A-40D0-ABA1-E4D8FAD69F9B}" dt="2026-09-04T14:07:40.725" v="3264" actId="1076"/>
          <ac:picMkLst>
            <pc:docMk/>
            <pc:sldMk cId="2837592851" sldId="336"/>
            <ac:picMk id="12" creationId="{D5CFD1AB-9383-81EF-16DE-0D5B631B914D}"/>
          </ac:picMkLst>
        </pc:picChg>
      </pc:sldChg>
      <pc:sldChg chg="new del">
        <pc:chgData name="tony august" userId="0e1c2837a28b706a" providerId="LiveId" clId="{AD05CBBD-285A-40D0-ABA1-E4D8FAD69F9B}" dt="2026-09-04T07:03:39.134" v="3053" actId="680"/>
        <pc:sldMkLst>
          <pc:docMk/>
          <pc:sldMk cId="1832732562" sldId="33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2FF0C-33C8-F9A4-F9AA-B385CCF96F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8E482-1DAA-5EA2-AA28-2EEB1F20C1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8799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Third conversation. They know the platform. This responds to their brief.</a:t>
            </a:r>
          </a:p>
          <a:p>
            <a:r>
              <a:t>Say early and plainly: the scenario is a composite built from what they described, not a real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6821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the whole deck hangs on. Say it slowly.</a:t>
            </a:r>
          </a:p>
          <a:p>
            <a:r>
              <a:t>The actual resolution — check another warehouse, confirm a payment cleared, pick a different carrier — takes minutes once the right person has the right context.</a:t>
            </a:r>
          </a:p>
          <a:p>
            <a:r>
              <a:t>That gap between how long it takes and how long the WORK takes is the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pre-empts the hostile question. If 'why don't they just fix it' has an obvious answer, the problem was not worth a demo.</a:t>
            </a:r>
          </a:p>
          <a:p>
            <a:r>
              <a:t>The shape: exception information has to reach several consumers, at different speeds, with different reliability needs, without the producer knowing who they are.</a:t>
            </a:r>
          </a:p>
          <a:p>
            <a:r>
              <a:t>THAT is a messaging problem — and saying so here is earned, not asserted.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what makes the rest defensible. It converts 'here is a clever architecture' into 'here is your requirement, addressed'.</a:t>
            </a:r>
          </a:p>
          <a:p>
            <a:r>
              <a:rPr dirty="0"/>
              <a:t>Every later section opens by naming the requirement it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Holding frame. The terminal is the artefact.</a:t>
            </a:r>
          </a:p>
          <a:p>
            <a:r>
              <a:rPr dirty="0"/>
              <a:t>Beat 1 (2m) normal flow, two delivery modes — R1</a:t>
            </a:r>
          </a:p>
          <a:p>
            <a:r>
              <a:rPr dirty="0"/>
              <a:t>Beat 2 (2.5m) order-scoped vs line-scoped, side by side — R4</a:t>
            </a:r>
          </a:p>
          <a:p>
            <a:r>
              <a:rPr dirty="0"/>
              <a:t>Beat 3 (2.5m) stop a desk, publish, restart, nothing lost — R3</a:t>
            </a:r>
          </a:p>
          <a:p>
            <a:r>
              <a:rPr dirty="0"/>
              <a:t>Beat 4 (3m) poison message into the DMQ — R3</a:t>
            </a:r>
          </a:p>
          <a:p>
            <a:r>
              <a:rPr dirty="0"/>
              <a:t>Call the requirement number as each beat starts. Keeps it tethered to the brief.</a:t>
            </a:r>
          </a:p>
          <a:p>
            <a:r>
              <a:rPr dirty="0"/>
              <a:t>If running long, cut Beat 3. NEVER cut Beat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BEFORE the topic hierarchy, not during it.</a:t>
            </a:r>
          </a:p>
          <a:p>
            <a:r>
              <a:t>Four exception types are modelled. Two are carried live, and they were chosen because their scope differs.</a:t>
            </a:r>
          </a:p>
          <a:p>
            <a:r>
              <a:t>Credit hold is a fact about an order. Stock shortfall is a fact about a line — the resolution is substitute THIS item, split-ship THIS item, backorder THIS item.</a:t>
            </a:r>
          </a:p>
          <a:p>
            <a:r>
              <a:t>That is the entire reason two Object-types exist on the next slide. Establish it here and the next slide explains itself.</a:t>
            </a:r>
          </a:p>
          <a:p>
            <a:r>
              <a:t>Origin: Emerson, 2026-08-26 — 'is this the whole order or part of the order? That will change the topic taxonomy.'</a:t>
            </a:r>
          </a:p>
          <a:p>
            <a:r>
              <a:t>If pushed on carrier-rejected: order-scoped today; it becomes shipment-scoped when the shipment Object-type is added. Volunteer that rather than defend it.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Governing rule, from your own guidance: a level serves routing or ACL, or it has no justification and becomes noise.</a:t>
            </a:r>
          </a:p>
          <a:p>
            <a:r>
              <a:t>Lead with what was CUT. Removing levels is more persuasive than keeping them.</a:t>
            </a:r>
          </a:p>
          <a:p>
            <a:r>
              <a:t>Weakest level, volunteered before they find it: ObjectId. It serves only the rare order-scoped UI subscription. It stays for per-entity subscription without payload inspection, and because it is your own trailing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alternatives force one guarantee across everything: pay spool cost for dashboard chatter, or accept loss on business events.</a:t>
            </a:r>
          </a:p>
          <a:p>
            <a:r>
              <a:t>The demo actually does this — two publishers on one connection. Output is tagged [direct] and [guaranteed] so you can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R6 is the requirement that justifies the version level, which is otherwise the hardest one to defend. Say the connection explicitly.</a:t>
            </a:r>
          </a:p>
          <a:p>
            <a:r>
              <a:rPr dirty="0"/>
              <a:t>Depth answer if pushed on replay: it works only on non-partitioned queues, which is why these are not partitioned. At real throughput you would partition the service queues and keep the audit queue non-partitioned so replay survives where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Holding frame. The terminal is the artefact.</a:t>
            </a:r>
          </a:p>
          <a:p>
            <a:r>
              <a:rPr dirty="0"/>
              <a:t>Beat 1 (2m) normal flow, two delivery modes — R1</a:t>
            </a:r>
          </a:p>
          <a:p>
            <a:r>
              <a:rPr dirty="0"/>
              <a:t>Beat 2 (2.5m) order-scoped vs line-scoped, side by side — R4</a:t>
            </a:r>
          </a:p>
          <a:p>
            <a:r>
              <a:rPr dirty="0"/>
              <a:t>Beat 3 (2.5m) stop a desk, publish, restart, nothing lost — R3</a:t>
            </a:r>
          </a:p>
          <a:p>
            <a:r>
              <a:rPr dirty="0"/>
              <a:t>Beat 4 (3m) poison message into the DMQ — R3</a:t>
            </a:r>
          </a:p>
          <a:p>
            <a:r>
              <a:rPr dirty="0"/>
              <a:t>Call the requirement number as each beat starts. Keeps it tethered to the brief.</a:t>
            </a:r>
          </a:p>
          <a:p>
            <a:r>
              <a:rPr dirty="0"/>
              <a:t>If running long, cut Beat 3. NEVER cut Beat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Hand over cleanly. Do not summarise — the room wants its turn.</a:t>
            </a:r>
          </a:p>
          <a:p>
            <a:r>
              <a:t>Appendix slides are held for: the published topic example, rejected alternatives, at-least-once and dedupe, replay and partitioning, the three silent-configuration findings, and how AI tooling was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Deploy only when asked. Having them and not needing them is the right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Emerson asked for exactly this: put the nuances you found IN the presentation. Why were they nuanced, why differentiators, how did they change the solution.</a:t>
            </a:r>
          </a:p>
          <a:p>
            <a:r>
              <a:t>This is also the honest answer to 'how did you use AI tools' — the tools generated a generic taxonomy; the corrections came from reading the docs and building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500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93B5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0E2A3E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345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 i="0" dirty="0">
                <a:solidFill>
                  <a:srgbClr val="00C895"/>
                </a:solidFill>
                <a:latin typeface="Segoe UI"/>
              </a:rPr>
              <a:t>MERIDIAN COMPONENTS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 i="0" dirty="0">
                <a:solidFill>
                  <a:srgbClr val="FFFFFF"/>
                </a:solidFill>
                <a:latin typeface="Segoe UI"/>
              </a:rPr>
              <a:t>Real-time order exception handling</a:t>
            </a:r>
          </a:p>
          <a:p>
            <a:pPr algn="l">
              <a:spcBef>
                <a:spcPts val="0"/>
              </a:spcBef>
              <a:spcAft>
                <a:spcPts val="3000"/>
              </a:spcAft>
            </a:pPr>
            <a:r>
              <a:rPr sz="2200" b="0" i="0" dirty="0">
                <a:solidFill>
                  <a:srgbClr val="AFBAC4"/>
                </a:solidFill>
                <a:latin typeface="Segoe UI"/>
              </a:rPr>
              <a:t>Custom demonstration on the Solace platform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8A96A2"/>
                </a:solidFill>
                <a:latin typeface="Segoe UI"/>
              </a:rPr>
              <a:t>Tony August    |    4 September 2026</a:t>
            </a:r>
          </a:p>
        </p:txBody>
      </p:sp>
      <p:sp>
        <p:nvSpPr>
          <p:cNvPr id="4" name="SolaceWordmark">
            <a:extLst>
              <a:ext uri="{FF2B5EF4-FFF2-40B4-BE49-F238E27FC236}">
                <a16:creationId xmlns:a16="http://schemas.microsoft.com/office/drawing/2014/main" id="{2007ACF7-C53F-4847-8E19-EF2D41EC2AB4}"/>
              </a:ext>
            </a:extLst>
          </p:cNvPr>
          <p:cNvSpPr txBox="1"/>
          <p:nvPr/>
        </p:nvSpPr>
        <p:spPr>
          <a:xfrm>
            <a:off x="1005840" y="5969000"/>
            <a:ext cx="1651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FFFFFF"/>
                </a:solidFill>
                <a:latin typeface="Segoe UI"/>
                <a:cs typeface="Segoe UI"/>
              </a:rPr>
              <a:t>solace</a:t>
            </a:r>
          </a:p>
        </p:txBody>
      </p:sp>
      <p:sp>
        <p:nvSpPr>
          <p:cNvPr id="5" name="SolaceAccentBar">
            <a:extLst>
              <a:ext uri="{FF2B5EF4-FFF2-40B4-BE49-F238E27FC236}">
                <a16:creationId xmlns:a16="http://schemas.microsoft.com/office/drawing/2014/main" id="{6112A054-CFC0-4074-8398-4CCC608AD6FA}"/>
              </a:ext>
            </a:extLst>
          </p:cNvPr>
          <p:cNvSpPr/>
          <p:nvPr/>
        </p:nvSpPr>
        <p:spPr>
          <a:xfrm>
            <a:off x="1005840" y="5867400"/>
            <a:ext cx="381000" cy="508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641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A4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E1F47D-C6D0-41B5-BC50-612A73ED8C23}"/>
              </a:ext>
            </a:extLst>
          </p:cNvPr>
          <p:cNvSpPr/>
          <p:nvPr/>
        </p:nvSpPr>
        <p:spPr>
          <a:xfrm>
            <a:off x="635000" y="571500"/>
            <a:ext cx="381000" cy="762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51A139-49D9-4699-9E06-C9E55E0A4B05}"/>
              </a:ext>
            </a:extLst>
          </p:cNvPr>
          <p:cNvSpPr txBox="1"/>
          <p:nvPr/>
        </p:nvSpPr>
        <p:spPr>
          <a:xfrm>
            <a:off x="635000" y="711200"/>
            <a:ext cx="5842000" cy="2540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125875-4B8C-4D53-9C91-C8971D835F25}"/>
              </a:ext>
            </a:extLst>
          </p:cNvPr>
          <p:cNvSpPr txBox="1"/>
          <p:nvPr/>
        </p:nvSpPr>
        <p:spPr>
          <a:xfrm>
            <a:off x="635000" y="1003300"/>
            <a:ext cx="5842000" cy="5842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What we'll cover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043E91-2410-4466-B856-940F651EFB25}"/>
              </a:ext>
            </a:extLst>
          </p:cNvPr>
          <p:cNvSpPr txBox="1"/>
          <p:nvPr/>
        </p:nvSpPr>
        <p:spPr>
          <a:xfrm>
            <a:off x="635000" y="1778000"/>
            <a:ext cx="5842000" cy="3302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A9BECD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About forty minutes of material, then time for your questions.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43B828-380F-4A80-A317-C6BC9D8B48BA}"/>
              </a:ext>
            </a:extLst>
          </p:cNvPr>
          <p:cNvSpPr/>
          <p:nvPr/>
        </p:nvSpPr>
        <p:spPr>
          <a:xfrm flipV="1">
            <a:off x="1016000" y="23495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D70108-6D5C-4F00-AE99-5270751A7676}"/>
              </a:ext>
            </a:extLst>
          </p:cNvPr>
          <p:cNvSpPr txBox="1"/>
          <p:nvPr/>
        </p:nvSpPr>
        <p:spPr>
          <a:xfrm>
            <a:off x="1016000" y="25654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9ADECF-01D5-4E38-AE26-C209C91DFF53}"/>
              </a:ext>
            </a:extLst>
          </p:cNvPr>
          <p:cNvSpPr txBox="1"/>
          <p:nvPr/>
        </p:nvSpPr>
        <p:spPr>
          <a:xfrm>
            <a:off x="1947582" y="25885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Current Situation (Recap)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36260B-40E1-4EDC-B499-ACF85331E66C}"/>
              </a:ext>
            </a:extLst>
          </p:cNvPr>
          <p:cNvSpPr/>
          <p:nvPr/>
        </p:nvSpPr>
        <p:spPr>
          <a:xfrm flipV="1">
            <a:off x="1016000" y="31369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4143B8-3583-40F0-8C58-BCEB02099867}"/>
              </a:ext>
            </a:extLst>
          </p:cNvPr>
          <p:cNvSpPr txBox="1"/>
          <p:nvPr/>
        </p:nvSpPr>
        <p:spPr>
          <a:xfrm>
            <a:off x="1016000" y="33528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3E3EB0-B7A0-47F0-A6A3-910A5B0D9883}"/>
              </a:ext>
            </a:extLst>
          </p:cNvPr>
          <p:cNvSpPr/>
          <p:nvPr/>
        </p:nvSpPr>
        <p:spPr>
          <a:xfrm flipV="1">
            <a:off x="1016000" y="39243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DAC667-CC97-4E96-BF98-A5B8789132E0}"/>
              </a:ext>
            </a:extLst>
          </p:cNvPr>
          <p:cNvSpPr txBox="1"/>
          <p:nvPr/>
        </p:nvSpPr>
        <p:spPr>
          <a:xfrm>
            <a:off x="1016000" y="41402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04765A-CB9C-46F6-8973-800AFED839EA}"/>
              </a:ext>
            </a:extLst>
          </p:cNvPr>
          <p:cNvSpPr txBox="1"/>
          <p:nvPr/>
        </p:nvSpPr>
        <p:spPr>
          <a:xfrm>
            <a:off x="1947582" y="41633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Solution Design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96178-C3B9-4F82-A260-D44B8F78232E}"/>
              </a:ext>
            </a:extLst>
          </p:cNvPr>
          <p:cNvSpPr/>
          <p:nvPr/>
        </p:nvSpPr>
        <p:spPr>
          <a:xfrm flipV="1">
            <a:off x="1016000" y="47117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3D726-09B3-4AB0-9742-7F41F60B8BC5}"/>
              </a:ext>
            </a:extLst>
          </p:cNvPr>
          <p:cNvSpPr txBox="1"/>
          <p:nvPr/>
        </p:nvSpPr>
        <p:spPr>
          <a:xfrm>
            <a:off x="1016000" y="49276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29438C-B1F6-4B6B-99BB-93E07F16BFD1}"/>
              </a:ext>
            </a:extLst>
          </p:cNvPr>
          <p:cNvSpPr txBox="1"/>
          <p:nvPr/>
        </p:nvSpPr>
        <p:spPr>
          <a:xfrm>
            <a:off x="1947582" y="49507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Demo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092B33-D088-44AB-9118-C3D74180D6B1}"/>
              </a:ext>
            </a:extLst>
          </p:cNvPr>
          <p:cNvSpPr/>
          <p:nvPr/>
        </p:nvSpPr>
        <p:spPr>
          <a:xfrm flipV="1">
            <a:off x="1016000" y="54991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61FA08-113C-4AB8-BC2B-1951AB0ABB1A}"/>
              </a:ext>
            </a:extLst>
          </p:cNvPr>
          <p:cNvSpPr txBox="1"/>
          <p:nvPr/>
        </p:nvSpPr>
        <p:spPr>
          <a:xfrm>
            <a:off x="1016000" y="57150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D9FAB3-970F-4969-92B4-D1893F3DBD3E}"/>
              </a:ext>
            </a:extLst>
          </p:cNvPr>
          <p:cNvSpPr txBox="1"/>
          <p:nvPr/>
        </p:nvSpPr>
        <p:spPr>
          <a:xfrm>
            <a:off x="1947582" y="57381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Questions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D5255A-2E82-4F77-8B66-FC83484F57D4}"/>
              </a:ext>
            </a:extLst>
          </p:cNvPr>
          <p:cNvSpPr/>
          <p:nvPr/>
        </p:nvSpPr>
        <p:spPr>
          <a:xfrm flipV="1">
            <a:off x="1016000" y="62865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9" name="Picture 6" descr="Assistenza Informatica Padova">
            <a:extLst>
              <a:ext uri="{FF2B5EF4-FFF2-40B4-BE49-F238E27FC236}">
                <a16:creationId xmlns:a16="http://schemas.microsoft.com/office/drawing/2014/main" id="{AD2A1EE6-5BE2-533B-0611-459256C0DE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"/>
          <a:stretch>
            <a:fillRect/>
          </a:stretch>
        </p:blipFill>
        <p:spPr bwMode="auto">
          <a:xfrm>
            <a:off x="6731000" y="0"/>
            <a:ext cx="8270634" cy="685800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2" name="PhotoScrim">
            <a:extLst>
              <a:ext uri="{FF2B5EF4-FFF2-40B4-BE49-F238E27FC236}">
                <a16:creationId xmlns:a16="http://schemas.microsoft.com/office/drawing/2014/main" id="{7F19A9B6-93C6-49FD-898F-7ABDCA81D275}"/>
              </a:ext>
            </a:extLst>
          </p:cNvPr>
          <p:cNvSpPr/>
          <p:nvPr/>
        </p:nvSpPr>
        <p:spPr>
          <a:xfrm>
            <a:off x="6604000" y="0"/>
            <a:ext cx="5588000" cy="6858000"/>
          </a:xfrm>
          <a:prstGeom prst="rect">
            <a:avLst/>
          </a:prstGeom>
          <a:gradFill>
            <a:gsLst>
              <a:gs pos="0">
                <a:srgbClr val="062A44">
                  <a:alpha val="100000"/>
                </a:srgbClr>
              </a:gs>
              <a:gs pos="100000">
                <a:srgbClr val="062A44">
                  <a:alpha val="0"/>
                </a:srgbClr>
              </a:gs>
            </a:gsLst>
            <a:lin ang="0" scaled="0"/>
          </a:gradFill>
          <a:ln w="9525" cap="flat" cmpd="sng" algn="ctr"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E6AF50-F20A-4AB9-A02C-0996D2DC2BDB}"/>
              </a:ext>
            </a:extLst>
          </p:cNvPr>
          <p:cNvSpPr txBox="1"/>
          <p:nvPr/>
        </p:nvSpPr>
        <p:spPr>
          <a:xfrm>
            <a:off x="11366500" y="6400800"/>
            <a:ext cx="5461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C9D6E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3DCC-2AFE-40C2-AD96-576EE1B1AFFA}"/>
              </a:ext>
            </a:extLst>
          </p:cNvPr>
          <p:cNvSpPr txBox="1"/>
          <p:nvPr/>
        </p:nvSpPr>
        <p:spPr>
          <a:xfrm>
            <a:off x="1947582" y="337185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What you asked for</a:t>
            </a:r>
          </a:p>
        </p:txBody>
      </p:sp>
    </p:spTree>
    <p:extLst>
      <p:ext uri="{BB962C8B-B14F-4D97-AF65-F5344CB8AC3E}">
        <p14:creationId xmlns:p14="http://schemas.microsoft.com/office/powerpoint/2010/main" val="3008254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C5DD7C8-2D64-46EF-BD8F-0621BDA129F7}"/>
              </a:ext>
            </a:extLst>
          </p:cNvPr>
          <p:cNvSpPr/>
          <p:nvPr/>
        </p:nvSpPr>
        <p:spPr>
          <a:xfrm>
            <a:off x="6286500" y="2006600"/>
            <a:ext cx="5054600" cy="3962400"/>
          </a:xfrm>
          <a:prstGeom prst="roundRect">
            <a:avLst/>
          </a:prstGeom>
          <a:solidFill>
            <a:srgbClr val="F1F5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6C24F8-2343-495F-8BD9-EC0A4891035F}"/>
              </a:ext>
            </a:extLst>
          </p:cNvPr>
          <p:cNvSpPr/>
          <p:nvPr/>
        </p:nvSpPr>
        <p:spPr>
          <a:xfrm>
            <a:off x="825500" y="2006600"/>
            <a:ext cx="5054600" cy="3962400"/>
          </a:xfrm>
          <a:prstGeom prst="roundRect">
            <a:avLst/>
          </a:prstGeom>
          <a:solidFill>
            <a:srgbClr val="F1F5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What exceptions cost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0300" y="2260600"/>
            <a:ext cx="4445000" cy="3226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2400" b="1" i="0" dirty="0">
                <a:latin typeface="Segoe UI"/>
              </a:rPr>
              <a:t>Orders Delayed </a:t>
            </a:r>
            <a:r>
              <a:rPr lang="en-US" sz="2400" b="1" i="0" dirty="0">
                <a:solidFill>
                  <a:srgbClr val="E07B2C"/>
                </a:solidFill>
                <a:latin typeface="Segoe UI"/>
              </a:rPr>
              <a:t>24–36 </a:t>
            </a:r>
            <a:r>
              <a:rPr lang="en-US" sz="2400" b="1" i="0" dirty="0">
                <a:latin typeface="Segoe UI"/>
              </a:rPr>
              <a:t>Hours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from exception to resumption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09:15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An order breaks: stock short, credit hold, bad address, carrier refusal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23:00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The nightly reconciliation job notices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08:00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A coordinator opens the report and starts emailing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Next day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Replies arrive; corrections are re-keyed by hand</a:t>
            </a:r>
          </a:p>
          <a:p>
            <a:pPr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4C5F70"/>
                </a:solidFill>
                <a:latin typeface="Segoe UI"/>
              </a:rPr>
              <a:t>Most of that time is spent waiting to be noticed, not waiting to be 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1300" y="2260600"/>
            <a:ext cx="4445000" cy="2675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2400" b="1" i="0" dirty="0">
                <a:solidFill>
                  <a:srgbClr val="E07B2C"/>
                </a:solidFill>
                <a:latin typeface="Segoe UI"/>
              </a:rPr>
              <a:t>46 </a:t>
            </a:r>
            <a:r>
              <a:rPr lang="en-US" sz="2400" b="1" i="0" dirty="0">
                <a:latin typeface="Segoe UI"/>
              </a:rPr>
              <a:t>Man-hours/day Expended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of pure coordination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2,800 orders a day  ×  4% exception rate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 ≈  110 exceptions a day</a:t>
            </a:r>
          </a:p>
          <a:p>
            <a:pPr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×  ~25 minutes of coordination each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 ≈  46 hours a day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4C5F70"/>
                </a:solidFill>
                <a:latin typeface="Segoe UI"/>
              </a:rPr>
              <a:t>Roughly six people doing nothing but shepherding broken orders.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197600"/>
            <a:ext cx="38100" cy="43180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4128" y="6264617"/>
            <a:ext cx="1024128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4C5F70"/>
                </a:solidFill>
                <a:latin typeface="Segoe UI"/>
              </a:rPr>
              <a:t>Derived from Meridian numbers.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D252A7-021F-1198-B44E-3100DA5EBFDE}"/>
              </a:ext>
            </a:extLst>
          </p:cNvPr>
          <p:cNvCxnSpPr>
            <a:cxnSpLocks/>
          </p:cNvCxnSpPr>
          <p:nvPr/>
        </p:nvCxnSpPr>
        <p:spPr>
          <a:xfrm>
            <a:off x="6702812" y="2973659"/>
            <a:ext cx="4388934" cy="0"/>
          </a:xfrm>
          <a:prstGeom prst="line">
            <a:avLst/>
          </a:prstGeom>
          <a:ln w="9525"/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387167-49F0-5B69-4A7A-795BB2F14CF6}"/>
              </a:ext>
            </a:extLst>
          </p:cNvPr>
          <p:cNvCxnSpPr>
            <a:cxnSpLocks/>
          </p:cNvCxnSpPr>
          <p:nvPr/>
        </p:nvCxnSpPr>
        <p:spPr>
          <a:xfrm>
            <a:off x="1241812" y="2973659"/>
            <a:ext cx="4388934" cy="0"/>
          </a:xfrm>
          <a:prstGeom prst="line">
            <a:avLst/>
          </a:prstGeom>
          <a:ln w="9525"/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537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8919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Why the obvious fixes have not worked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025896"/>
            <a:ext cx="38100" cy="54864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6102057"/>
            <a:ext cx="1024128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 i="0" dirty="0">
                <a:solidFill>
                  <a:srgbClr val="4C5F70"/>
                </a:solidFill>
                <a:latin typeface="Segoe UI"/>
              </a:rPr>
              <a:t>Scalability Failure:  Majority of 24–36 hour delay and the 46 hours a day survives for Majority of Exceptions</a:t>
            </a:r>
          </a:p>
        </p:txBody>
      </p:sp>
      <p:pic>
        <p:nvPicPr>
          <p:cNvPr id="8" name="Picture 7" descr="square hole round peg">
            <a:extLst>
              <a:ext uri="{FF2B5EF4-FFF2-40B4-BE49-F238E27FC236}">
                <a16:creationId xmlns:a16="http://schemas.microsoft.com/office/drawing/2014/main" id="{236F97E8-E7E6-C643-B8A4-F1EC34D36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0" y="2799820"/>
            <a:ext cx="3735728" cy="2291246"/>
          </a:xfrm>
          <a:prstGeom prst="rect">
            <a:avLst/>
          </a:prstGeom>
        </p:spPr>
      </p:pic>
      <p:sp>
        <p:nvSpPr>
          <p:cNvPr id="200" name="Card 0"/>
          <p:cNvSpPr/>
          <p:nvPr/>
        </p:nvSpPr>
        <p:spPr>
          <a:xfrm>
            <a:off x="825500" y="20828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Bar 0"/>
          <p:cNvSpPr/>
          <p:nvPr/>
        </p:nvSpPr>
        <p:spPr>
          <a:xfrm>
            <a:off x="825500" y="23114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CardText 0"/>
          <p:cNvSpPr txBox="1"/>
          <p:nvPr/>
        </p:nvSpPr>
        <p:spPr>
          <a:xfrm>
            <a:off x="1104900" y="22733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Run the batch more often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Shortening detection not enough. Adds SAP load in business hours. Does nothing about the email half</a:t>
            </a:r>
          </a:p>
        </p:txBody>
      </p:sp>
      <p:sp>
        <p:nvSpPr>
          <p:cNvPr id="203" name="Card 1"/>
          <p:cNvSpPr/>
          <p:nvPr/>
        </p:nvSpPr>
        <p:spPr>
          <a:xfrm>
            <a:off x="825500" y="33782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4" name="Bar 1"/>
          <p:cNvSpPr/>
          <p:nvPr/>
        </p:nvSpPr>
        <p:spPr>
          <a:xfrm>
            <a:off x="825500" y="36068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CardText 1"/>
          <p:cNvSpPr txBox="1"/>
          <p:nvPr/>
        </p:nvSpPr>
        <p:spPr>
          <a:xfrm>
            <a:off x="1104900" y="35687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Add point-to-point interfaces for exceptions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Tried this already. The cost of the </a:t>
            </a:r>
            <a:r>
              <a:rPr lang="en-US" sz="1400" b="0" i="1" dirty="0">
                <a:solidFill>
                  <a:srgbClr val="4C5F70"/>
                </a:solidFill>
                <a:latin typeface="Segoe UI"/>
              </a:rPr>
              <a:t>n</a:t>
            </a: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th consumer is what stopped you</a:t>
            </a:r>
          </a:p>
        </p:txBody>
      </p:sp>
      <p:sp>
        <p:nvSpPr>
          <p:cNvPr id="206" name="Card 2"/>
          <p:cNvSpPr/>
          <p:nvPr/>
        </p:nvSpPr>
        <p:spPr>
          <a:xfrm>
            <a:off x="825500" y="46736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Bar 2"/>
          <p:cNvSpPr/>
          <p:nvPr/>
        </p:nvSpPr>
        <p:spPr>
          <a:xfrm>
            <a:off x="825500" y="49022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CardText 2"/>
          <p:cNvSpPr txBox="1"/>
          <p:nvPr/>
        </p:nvSpPr>
        <p:spPr>
          <a:xfrm>
            <a:off x="1104900" y="48641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Buy a workflow tool</a:t>
            </a:r>
          </a:p>
          <a:p>
            <a:pPr algn="l"/>
            <a:r>
              <a:rPr lang="en-US" sz="1400" dirty="0">
                <a:solidFill>
                  <a:srgbClr val="4C5F70"/>
                </a:solidFill>
                <a:latin typeface="Segoe UI"/>
              </a:rPr>
              <a:t>DIY route configuration routing challenging to maintain at scale.  Lacks true broadcast support.</a:t>
            </a:r>
            <a:endParaRPr lang="en-US" sz="1400" b="0" i="0" dirty="0">
              <a:solidFill>
                <a:srgbClr val="4C5F70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698426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785A"/>
                </a:solidFill>
                <a:latin typeface="Segoe UI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What you asked us to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ReqCard 0"/>
          <p:cNvSpPr/>
          <p:nvPr/>
        </p:nvSpPr>
        <p:spPr>
          <a:xfrm>
            <a:off x="825500" y="21844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ReqText 0"/>
          <p:cNvSpPr txBox="1"/>
          <p:nvPr/>
        </p:nvSpPr>
        <p:spPr>
          <a:xfrm>
            <a:off x="1079500" y="23749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R1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Know it when it happens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Realtime notification, not a batch report</a:t>
            </a:r>
          </a:p>
        </p:txBody>
      </p:sp>
      <p:sp>
        <p:nvSpPr>
          <p:cNvPr id="202" name="ReqCard 1"/>
          <p:cNvSpPr/>
          <p:nvPr/>
        </p:nvSpPr>
        <p:spPr>
          <a:xfrm>
            <a:off x="6184900" y="21844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ReqText 1"/>
          <p:cNvSpPr txBox="1"/>
          <p:nvPr/>
        </p:nvSpPr>
        <p:spPr>
          <a:xfrm>
            <a:off x="6438900" y="23749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R2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Add/Remove a consumer without re-architecting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Eliminate overhead of point-to-point interfaces</a:t>
            </a:r>
          </a:p>
        </p:txBody>
      </p:sp>
      <p:sp>
        <p:nvSpPr>
          <p:cNvPr id="204" name="ReqCard 2"/>
          <p:cNvSpPr/>
          <p:nvPr/>
        </p:nvSpPr>
        <p:spPr>
          <a:xfrm>
            <a:off x="825500" y="35052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ReqText 2"/>
          <p:cNvSpPr txBox="1"/>
          <p:nvPr/>
        </p:nvSpPr>
        <p:spPr>
          <a:xfrm>
            <a:off x="1079500" y="36957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R3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Nothing lost when a system is down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Ability to recover from down times, not skip the window</a:t>
            </a:r>
          </a:p>
        </p:txBody>
      </p:sp>
      <p:sp>
        <p:nvSpPr>
          <p:cNvPr id="206" name="ReqCard 3"/>
          <p:cNvSpPr/>
          <p:nvPr/>
        </p:nvSpPr>
        <p:spPr>
          <a:xfrm>
            <a:off x="6184900" y="35052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ReqText 3"/>
          <p:cNvSpPr txBox="1"/>
          <p:nvPr/>
        </p:nvSpPr>
        <p:spPr>
          <a:xfrm>
            <a:off x="6438900" y="36957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R4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Context travels with the exception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Whoever picks it up should not have to go hunting</a:t>
            </a:r>
          </a:p>
        </p:txBody>
      </p:sp>
      <p:sp>
        <p:nvSpPr>
          <p:cNvPr id="208" name="ReqCard 4"/>
          <p:cNvSpPr/>
          <p:nvPr/>
        </p:nvSpPr>
        <p:spPr>
          <a:xfrm>
            <a:off x="825500" y="48260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9" name="ReqText 4"/>
          <p:cNvSpPr txBox="1"/>
          <p:nvPr/>
        </p:nvSpPr>
        <p:spPr>
          <a:xfrm>
            <a:off x="1079500" y="50165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R5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Human escalation is deliberate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Last resort only. Narrow requests surfaced with relevant context</a:t>
            </a:r>
          </a:p>
        </p:txBody>
      </p:sp>
      <p:sp>
        <p:nvSpPr>
          <p:cNvPr id="210" name="ReqCard 5"/>
          <p:cNvSpPr/>
          <p:nvPr/>
        </p:nvSpPr>
        <p:spPr>
          <a:xfrm>
            <a:off x="6184900" y="48260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11" name="ReqText 5"/>
          <p:cNvSpPr txBox="1"/>
          <p:nvPr/>
        </p:nvSpPr>
        <p:spPr>
          <a:xfrm>
            <a:off x="6438900" y="50165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R6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Incremental adoption strategy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So the org can throttle and distribute the risk of change</a:t>
            </a:r>
          </a:p>
        </p:txBody>
      </p:sp>
    </p:spTree>
    <p:extLst>
      <p:ext uri="{BB962C8B-B14F-4D97-AF65-F5344CB8AC3E}">
        <p14:creationId xmlns:p14="http://schemas.microsoft.com/office/powerpoint/2010/main" val="4061422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0584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00C895"/>
                </a:solidFill>
              </a:rPr>
              <a:t>MERIDIAN COMPONENTS</a:t>
            </a:r>
            <a:r>
              <a:rPr lang="en-US" sz="1400" b="1" i="0" dirty="0">
                <a:solidFill>
                  <a:srgbClr val="00C895"/>
                </a:solidFill>
                <a:latin typeface="Segoe UI"/>
              </a:rPr>
              <a:t> </a:t>
            </a:r>
          </a:p>
          <a:p>
            <a:pPr algn="l">
              <a:spcBef>
                <a:spcPts val="0"/>
              </a:spcBef>
              <a:spcAft>
                <a:spcPts val="2400"/>
              </a:spcAft>
              <a:buNone/>
            </a:pPr>
            <a:r>
              <a:rPr lang="en-US" sz="4000" b="1" i="0" dirty="0">
                <a:solidFill>
                  <a:srgbClr val="FFFFFF"/>
                </a:solidFill>
                <a:latin typeface="Segoe UI"/>
              </a:rPr>
              <a:t>Solution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0" i="0" dirty="0">
                <a:solidFill>
                  <a:srgbClr val="AFBAC4"/>
                </a:solidFill>
                <a:latin typeface="Segoe UI"/>
              </a:rPr>
              <a:t>What we build next, and why each piece is there</a:t>
            </a:r>
          </a:p>
        </p:txBody>
      </p:sp>
    </p:spTree>
    <p:extLst>
      <p:ext uri="{BB962C8B-B14F-4D97-AF65-F5344CB8AC3E}">
        <p14:creationId xmlns:p14="http://schemas.microsoft.com/office/powerpoint/2010/main" val="371994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ORDER EXCEPTIONS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What breaks, and at what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1FF8C9-B89A-4632-B46D-C4458D210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8677766"/>
              </p:ext>
            </p:extLst>
          </p:nvPr>
        </p:nvGraphicFramePr>
        <p:xfrm>
          <a:off x="825500" y="2184400"/>
          <a:ext cx="105156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00">
                  <a:extLst>
                    <a:ext uri="{9D8B030D-6E8A-4147-A177-3AD203B41FA5}">
                      <a16:colId xmlns:a16="http://schemas.microsoft.com/office/drawing/2014/main" val="458672759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940774624"/>
                    </a:ext>
                  </a:extLst>
                </a:gridCol>
                <a:gridCol w="6642100">
                  <a:extLst>
                    <a:ext uri="{9D8B030D-6E8A-4147-A177-3AD203B41FA5}">
                      <a16:colId xmlns:a16="http://schemas.microsoft.com/office/drawing/2014/main" val="862530774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Exception type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Scope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What it means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334888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credit-hold*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Order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Customer has not established credit or is over their credit limit.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34603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stock-shortfall*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Line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Not enough stock to fill an item. Substitute, split-ship or backorder is a per-item call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1071425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carrier-rejected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Line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Carrier refuses items because of safety concerns or otherwise unable to meet item’s shipping requirements.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643017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address-invalid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Order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Delivery address fails validation. 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66501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A2E31E2-7686-4C2B-AB36-C45C36679678}"/>
              </a:ext>
            </a:extLst>
          </p:cNvPr>
          <p:cNvSpPr txBox="1"/>
          <p:nvPr/>
        </p:nvSpPr>
        <p:spPr>
          <a:xfrm>
            <a:off x="825500" y="57404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0" i="0" dirty="0">
                <a:solidFill>
                  <a:srgbClr val="2C4356"/>
                </a:solidFill>
                <a:latin typeface="Segoe UI"/>
              </a:rPr>
              <a:t>* Live in the demo. carrier-rejected and address-invalid are modelled, not demonstrated.</a:t>
            </a:r>
          </a:p>
        </p:txBody>
      </p:sp>
    </p:spTree>
    <p:extLst>
      <p:ext uri="{BB962C8B-B14F-4D97-AF65-F5344CB8AC3E}">
        <p14:creationId xmlns:p14="http://schemas.microsoft.com/office/powerpoint/2010/main" val="4248351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ROUTING PLAN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Topic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R2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286000"/>
            <a:ext cx="10515600" cy="2006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0300" y="2489200"/>
            <a:ext cx="9906000" cy="172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93B5F"/>
                </a:solidFill>
                <a:latin typeface="Segoe UI"/>
              </a:rPr>
              <a:t>mc / order / exception / v1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exceptionType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orderId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 dirty="0">
                <a:solidFill>
                  <a:srgbClr val="093B5F"/>
                </a:solidFill>
                <a:latin typeface="Segoe UI"/>
              </a:rPr>
              <a:t>mc / order / exception / v1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exceptionType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orderId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lineId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 dirty="0">
                <a:solidFill>
                  <a:srgbClr val="96A3B0"/>
                </a:solidFill>
                <a:latin typeface="Segoe UI"/>
              </a:rPr>
              <a:t>mc / order / {verb} / v1 / {orderId}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 dirty="0">
                <a:solidFill>
                  <a:srgbClr val="4C5F70"/>
                </a:solidFill>
                <a:latin typeface="Segoe UI"/>
              </a:rPr>
              <a:t>Domain / Object-type / Verb / Version,  then properties least specific to most</a:t>
            </a:r>
          </a:p>
        </p:txBody>
      </p:sp>
      <p:sp>
        <p:nvSpPr>
          <p:cNvPr id="201" name="Card202"/>
          <p:cNvSpPr/>
          <p:nvPr/>
        </p:nvSpPr>
        <p:spPr>
          <a:xfrm>
            <a:off x="82550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2" name="T203"/>
          <p:cNvSpPr txBox="1"/>
          <p:nvPr/>
        </p:nvSpPr>
        <p:spPr>
          <a:xfrm>
            <a:off x="105410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A topic is composed per message, not provisioned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So a new consumer subscribes and nothing upstream changes (R2)</a:t>
            </a:r>
          </a:p>
        </p:txBody>
      </p:sp>
      <p:sp>
        <p:nvSpPr>
          <p:cNvPr id="203" name="Card204"/>
          <p:cNvSpPr/>
          <p:nvPr/>
        </p:nvSpPr>
        <p:spPr>
          <a:xfrm>
            <a:off x="440055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4" name="T205"/>
          <p:cNvSpPr txBox="1"/>
          <p:nvPr/>
        </p:nvSpPr>
        <p:spPr>
          <a:xfrm>
            <a:off x="462915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One root; the line id appends when the exception is line-scoped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A credit hold is about an order, a shortfall about a line — one subscription reaches both</a:t>
            </a:r>
          </a:p>
        </p:txBody>
      </p:sp>
      <p:sp>
        <p:nvSpPr>
          <p:cNvPr id="205" name="Card206"/>
          <p:cNvSpPr/>
          <p:nvPr/>
        </p:nvSpPr>
        <p:spPr>
          <a:xfrm>
            <a:off x="797560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6" name="T207"/>
          <p:cNvSpPr txBox="1"/>
          <p:nvPr/>
        </p:nvSpPr>
        <p:spPr>
          <a:xfrm>
            <a:off x="820420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Every level serves routing or access control, or it is not there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customerTier and locality were both cut on that test</a:t>
            </a:r>
          </a:p>
        </p:txBody>
      </p:sp>
      <p:pic>
        <p:nvPicPr>
          <p:cNvPr id="8" name="Picture 7" descr="Finding The Right Architecture Drawing Tools - archisoup">
            <a:extLst>
              <a:ext uri="{FF2B5EF4-FFF2-40B4-BE49-F238E27FC236}">
                <a16:creationId xmlns:a16="http://schemas.microsoft.com/office/drawing/2014/main" id="{43B64F87-3567-2096-7509-BA848F2FB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4537" y="310443"/>
            <a:ext cx="2317552" cy="154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0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dirty="0">
                <a:solidFill>
                  <a:srgbClr val="00785A"/>
                </a:solidFill>
                <a:latin typeface="Segoe UI"/>
              </a:rPr>
              <a:t>DELIVERY GUARANTEES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093B5F"/>
                </a:solidFill>
                <a:latin typeface="Segoe UI"/>
              </a:rPr>
              <a:t>Two streams, two guarantees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R3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120640"/>
            <a:ext cx="38100" cy="91440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5341209"/>
            <a:ext cx="10241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One broker, different guarantees per stream.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T202"/>
          <p:cNvSpPr txBox="1"/>
          <p:nvPr/>
        </p:nvSpPr>
        <p:spPr>
          <a:xfrm>
            <a:off x="105410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Order lifecycle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Direct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Created, allocated, picked, shipped, invoiced. Not spooled, not acknowledged. High volume and informational: a dashboard that misses one refreshes.</a:t>
            </a:r>
          </a:p>
        </p:txBody>
      </p:sp>
      <p:sp>
        <p:nvSpPr>
          <p:cNvPr id="202" name="Card203"/>
          <p:cNvSpPr/>
          <p:nvPr/>
        </p:nvSpPr>
        <p:spPr>
          <a:xfrm>
            <a:off x="440055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T204"/>
          <p:cNvSpPr txBox="1"/>
          <p:nvPr/>
        </p:nvSpPr>
        <p:spPr>
          <a:xfrm>
            <a:off x="462915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Exceptions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Guaranteed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Spooled by the broker and redelivered until acknowledged. Lose one and an order silently stops. Non-negotiable.</a:t>
            </a:r>
          </a:p>
        </p:txBody>
      </p:sp>
      <p:sp>
        <p:nvSpPr>
          <p:cNvPr id="204" name="Card205"/>
          <p:cNvSpPr/>
          <p:nvPr/>
        </p:nvSpPr>
        <p:spPr>
          <a:xfrm>
            <a:off x="797560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T206"/>
          <p:cNvSpPr txBox="1"/>
          <p:nvPr/>
        </p:nvSpPr>
        <p:spPr>
          <a:xfrm>
            <a:off x="820420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Why not one setting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Chosen per stream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One guarantee for everything means paying spool cost for dashboard traffic, or accepting loss on business events. Neither is acceptable here.</a:t>
            </a:r>
          </a:p>
        </p:txBody>
      </p:sp>
    </p:spTree>
    <p:extLst>
      <p:ext uri="{BB962C8B-B14F-4D97-AF65-F5344CB8AC3E}">
        <p14:creationId xmlns:p14="http://schemas.microsoft.com/office/powerpoint/2010/main" val="2843641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ENTERPRISE QOS’s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Inherently Hardened</a:t>
            </a:r>
            <a:endParaRPr sz="3200" b="1" i="0" dirty="0">
              <a:solidFill>
                <a:srgbClr val="093B5F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 dirty="0">
                <a:solidFill>
                  <a:srgbClr val="00785A"/>
                </a:solidFill>
                <a:latin typeface="Segoe UI"/>
              </a:rPr>
              <a:t>R6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413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T202"/>
          <p:cNvSpPr txBox="1"/>
          <p:nvPr/>
        </p:nvSpPr>
        <p:spPr>
          <a:xfrm>
            <a:off x="1079500" y="2641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One durable queue per consumer, subscribing to topics</a:t>
            </a: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slow or dead consumer affects nobody else. Adding the one more touches nothing shared</a:t>
            </a:r>
          </a:p>
        </p:txBody>
      </p:sp>
      <p:sp>
        <p:nvSpPr>
          <p:cNvPr id="202" name="Card203"/>
          <p:cNvSpPr/>
          <p:nvPr/>
        </p:nvSpPr>
        <p:spPr>
          <a:xfrm>
            <a:off x="6184900" y="2413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T204"/>
          <p:cNvSpPr txBox="1"/>
          <p:nvPr/>
        </p:nvSpPr>
        <p:spPr>
          <a:xfrm>
            <a:off x="6438900" y="2641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dirty="0">
                <a:solidFill>
                  <a:srgbClr val="093B5F"/>
                </a:solidFill>
                <a:latin typeface="Segoe UI"/>
              </a:rPr>
              <a:t>R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edelivery </a:t>
            </a:r>
            <a:r>
              <a:rPr lang="en-US" sz="1700" b="1" dirty="0">
                <a:solidFill>
                  <a:srgbClr val="093B5F"/>
                </a:solidFill>
                <a:latin typeface="Segoe UI"/>
              </a:rPr>
              <a:t>&amp;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D</a:t>
            </a:r>
            <a:r>
              <a:rPr lang="en-US" sz="1700" b="1" dirty="0">
                <a:solidFill>
                  <a:srgbClr val="093B5F"/>
                </a:solidFill>
                <a:latin typeface="Segoe UI"/>
              </a:rPr>
              <a:t>ead </a:t>
            </a:r>
            <a:r>
              <a:rPr lang="en-US" sz="1700" b="1">
                <a:solidFill>
                  <a:srgbClr val="093B5F"/>
                </a:solidFill>
                <a:latin typeface="Segoe UI"/>
              </a:rPr>
              <a:t>Message controls</a:t>
            </a:r>
            <a:endParaRPr lang="en-US" sz="17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malformed message steps aside instead of blocking the other 109 that day</a:t>
            </a:r>
          </a:p>
        </p:txBody>
      </p:sp>
      <p:sp>
        <p:nvSpPr>
          <p:cNvPr id="204" name="Card205"/>
          <p:cNvSpPr/>
          <p:nvPr/>
        </p:nvSpPr>
        <p:spPr>
          <a:xfrm>
            <a:off x="825500" y="4064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T206"/>
          <p:cNvSpPr txBox="1"/>
          <p:nvPr/>
        </p:nvSpPr>
        <p:spPr>
          <a:xfrm>
            <a:off x="1079500" y="4292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Replay for onboarding and forensics</a:t>
            </a: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new consumer builds its state from the log, not from a database export</a:t>
            </a:r>
          </a:p>
        </p:txBody>
      </p:sp>
      <p:sp>
        <p:nvSpPr>
          <p:cNvPr id="206" name="Card207"/>
          <p:cNvSpPr/>
          <p:nvPr/>
        </p:nvSpPr>
        <p:spPr>
          <a:xfrm>
            <a:off x="6184900" y="4064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T208"/>
          <p:cNvSpPr txBox="1"/>
          <p:nvPr/>
        </p:nvSpPr>
        <p:spPr>
          <a:xfrm>
            <a:off x="6438900" y="4292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Versioning to manage migrations</a:t>
            </a: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(R6)</a:t>
            </a:r>
          </a:p>
          <a:p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Run the batch and the event path in parallel, reconcile, then retire the batch. No cutover</a:t>
            </a:r>
            <a:endParaRPr lang="en-US" sz="1400" dirty="0">
              <a:solidFill>
                <a:srgbClr val="4C5F70"/>
              </a:solidFill>
              <a:latin typeface="Segoe UI"/>
            </a:endParaRPr>
          </a:p>
          <a:p>
            <a:endParaRPr lang="en-US" sz="800" b="1" dirty="0">
              <a:solidFill>
                <a:srgbClr val="4C5F70"/>
              </a:solidFill>
              <a:latin typeface="Segoe UI"/>
            </a:endParaRPr>
          </a:p>
          <a:p>
            <a:pPr lvl="1"/>
            <a:r>
              <a:rPr lang="en-US" sz="1200" b="1" dirty="0">
                <a:solidFill>
                  <a:schemeClr val="bg1">
                    <a:lumMod val="65000"/>
                  </a:schemeClr>
                </a:solidFill>
              </a:rPr>
              <a:t>Topic &gt;&gt; mc / order / exception / </a:t>
            </a:r>
            <a:r>
              <a:rPr lang="en-US" sz="1200" b="1" dirty="0"/>
              <a:t>v1</a:t>
            </a:r>
            <a:r>
              <a:rPr lang="en-US" sz="1200" b="1" dirty="0">
                <a:solidFill>
                  <a:srgbClr val="4C5F70"/>
                </a:solidFill>
              </a:rPr>
              <a:t> </a:t>
            </a:r>
            <a:r>
              <a:rPr lang="en-US" sz="1200" b="1" dirty="0">
                <a:solidFill>
                  <a:schemeClr val="bg1">
                    <a:lumMod val="65000"/>
                  </a:schemeClr>
                </a:solidFill>
              </a:rPr>
              <a:t>/ …</a:t>
            </a:r>
            <a:endParaRPr lang="en-US" sz="1200" b="0" i="0" dirty="0">
              <a:solidFill>
                <a:schemeClr val="bg1">
                  <a:lumMod val="65000"/>
                </a:schemeClr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488136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0584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00C895"/>
                </a:solidFill>
              </a:rPr>
              <a:t>MERIDIAN COMPONENTS</a:t>
            </a:r>
            <a:endParaRPr sz="1400" b="1" i="0" dirty="0">
              <a:solidFill>
                <a:srgbClr val="00C895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400"/>
              </a:spcAft>
            </a:pPr>
            <a:r>
              <a:rPr lang="en-US" sz="4000" b="1" i="0" dirty="0">
                <a:solidFill>
                  <a:srgbClr val="FFFFFF"/>
                </a:solidFill>
                <a:latin typeface="Segoe UI"/>
              </a:rPr>
              <a:t>Demo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en-US" dirty="0">
                <a:solidFill>
                  <a:srgbClr val="AFBAC4"/>
                </a:solidFill>
                <a:latin typeface="Segoe UI"/>
              </a:rPr>
              <a:t>What does the </a:t>
            </a:r>
            <a:r>
              <a:rPr lang="en-US" sz="1800" b="0" i="0" dirty="0">
                <a:solidFill>
                  <a:srgbClr val="AFBAC4"/>
                </a:solidFill>
                <a:latin typeface="Segoe UI"/>
              </a:rPr>
              <a:t>Solution look like conceptually</a:t>
            </a:r>
          </a:p>
        </p:txBody>
      </p:sp>
    </p:spTree>
    <p:extLst>
      <p:ext uri="{BB962C8B-B14F-4D97-AF65-F5344CB8AC3E}">
        <p14:creationId xmlns:p14="http://schemas.microsoft.com/office/powerpoint/2010/main" val="2609383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88" y="12801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DRIVEN EXCEPTION HANDLING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88" y="56692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Augmentation and Guardrails Shift Human Workloads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12484" y="932688"/>
            <a:ext cx="11676888" cy="2724912"/>
          </a:xfrm>
          <a:prstGeom prst="roundRect">
            <a:avLst>
              <a:gd name="adj" fmla="val 2013"/>
            </a:avLst>
          </a:prstGeom>
          <a:solidFill>
            <a:srgbClr val="0B1D37"/>
          </a:solidFill>
          <a:ln w="15875">
            <a:solidFill>
              <a:srgbClr val="245F92"/>
            </a:solidFill>
            <a:prstDash val="solid"/>
          </a:ln>
          <a:effectLst>
            <a:outerShdw blurRad="1524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3652" y="1024128"/>
            <a:ext cx="8750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LEGACY FLOW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(Deterministic + Human Exception Queue)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91308" y="10241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 | Quality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0" descr="/home/claude/icon_in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08" y="187452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748" y="24414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INPUT DATA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327468" y="2258568"/>
            <a:ext cx="329184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738948" y="192024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/home/claud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820" y="21488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6074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 ENGINE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348292" y="2258568"/>
            <a:ext cx="2123186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 rot="5400000">
            <a:off x="6073204" y="1211580"/>
            <a:ext cx="1207008" cy="2331720"/>
          </a:xfrm>
          <a:prstGeom prst="trapezoid">
            <a:avLst/>
          </a:prstGeom>
          <a:solidFill>
            <a:srgbClr val="0F2A4E">
              <a:alpha val="85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/home/claude/icon_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8028" y="2157984"/>
            <a:ext cx="402336" cy="402336"/>
          </a:xfrm>
          <a:prstGeom prst="rect">
            <a:avLst/>
          </a:prstGeom>
        </p:spPr>
      </p:pic>
      <p:pic>
        <p:nvPicPr>
          <p:cNvPr id="19" name="Image 3" descr="/home/claude/icon_w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036" y="2523744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65228" y="18745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EXCEPTION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7883716" y="2258568"/>
            <a:ext cx="310896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8249476" y="19202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Image 4" descr="/home/claude/icon_hum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8348" y="214884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871268" y="1920240"/>
            <a:ext cx="1719072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MANUAL PROCESSING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2518352" y="2871216"/>
            <a:ext cx="0" cy="329184"/>
          </a:xfrm>
          <a:prstGeom prst="line">
            <a:avLst/>
          </a:prstGeom>
          <a:noFill/>
          <a:ln w="19050">
            <a:solidFill>
              <a:srgbClr val="4FA8E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8798116" y="2926080"/>
            <a:ext cx="1792224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257620" y="3730752"/>
            <a:ext cx="11676888" cy="3054096"/>
          </a:xfrm>
          <a:prstGeom prst="roundRect">
            <a:avLst>
              <a:gd name="adj" fmla="val 1796"/>
            </a:avLst>
          </a:prstGeom>
          <a:solidFill>
            <a:srgbClr val="0B1D37"/>
          </a:solidFill>
          <a:ln w="15875">
            <a:solidFill>
              <a:srgbClr val="245F92"/>
            </a:solidFill>
            <a:prstDash val="solid"/>
          </a:ln>
          <a:effectLst>
            <a:outerShdw blurRad="1524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513652" y="3822192"/>
            <a:ext cx="8750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FLOW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 + Agentic Augmentation)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7426856" y="3822192"/>
            <a:ext cx="42790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 | Quality | Faster Resolution | Lower Cost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Image 6" descr="/home/claude/icon_in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08" y="4187952"/>
            <a:ext cx="548640" cy="54864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38748" y="47548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INPUT DATA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1327468" y="4562856"/>
            <a:ext cx="329184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7"/>
          <p:cNvSpPr/>
          <p:nvPr/>
        </p:nvSpPr>
        <p:spPr>
          <a:xfrm>
            <a:off x="1738948" y="4224528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Image 7" descr="/home/claud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820" y="4453128"/>
            <a:ext cx="457200" cy="45720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2360740" y="4224528"/>
            <a:ext cx="9144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 ENGINE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3348292" y="4562856"/>
            <a:ext cx="1101852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0"/>
          <p:cNvSpPr/>
          <p:nvPr/>
        </p:nvSpPr>
        <p:spPr>
          <a:xfrm>
            <a:off x="4450144" y="4160520"/>
            <a:ext cx="1737360" cy="1042416"/>
          </a:xfrm>
          <a:prstGeom prst="roundRect">
            <a:avLst>
              <a:gd name="adj" fmla="val 6140"/>
            </a:avLst>
          </a:prstGeom>
          <a:solidFill>
            <a:srgbClr val="0F2A4E"/>
          </a:solidFill>
          <a:ln w="34925">
            <a:solidFill>
              <a:srgbClr val="FFC000"/>
            </a:solidFill>
            <a:prstDash val="solid"/>
          </a:ln>
          <a:effectLst>
            <a:glow rad="152400">
              <a:srgbClr val="FFC000">
                <a:alpha val="60000"/>
              </a:srgbClr>
            </a:glow>
            <a:outerShdw blurRad="114300" dist="50800" dir="16200000" algn="bl" rotWithShape="0">
              <a:srgbClr val="FFC000">
                <a:alpha val="4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1" name="Image 8" descr="/home/claude/icon_shiel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016" y="4453128"/>
            <a:ext cx="457200" cy="45720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5071936" y="4160520"/>
            <a:ext cx="1078992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SYSTEM GUARDRAILS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6827584" y="4224528"/>
            <a:ext cx="4695444" cy="914400"/>
          </a:xfrm>
          <a:prstGeom prst="rightArrow">
            <a:avLst/>
          </a:prstGeom>
          <a:solidFill>
            <a:srgbClr val="10375F">
              <a:alpha val="92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397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3"/>
          <p:cNvSpPr/>
          <p:nvPr/>
        </p:nvSpPr>
        <p:spPr>
          <a:xfrm>
            <a:off x="5808028" y="42245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AUTO-EXECUTED
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(Example: ~90%)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6FC4F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4"/>
          <p:cNvSpPr/>
          <p:nvPr/>
        </p:nvSpPr>
        <p:spPr>
          <a:xfrm>
            <a:off x="2970595" y="5401056"/>
            <a:ext cx="1383537" cy="859536"/>
          </a:xfrm>
          <a:prstGeom prst="roundRect">
            <a:avLst>
              <a:gd name="adj" fmla="val 7447"/>
            </a:avLst>
          </a:prstGeom>
          <a:solidFill>
            <a:srgbClr val="0F2A4E"/>
          </a:solidFill>
          <a:ln w="34925">
            <a:solidFill>
              <a:srgbClr val="FFC000"/>
            </a:solidFill>
            <a:prstDash val="solid"/>
          </a:ln>
          <a:effectLst>
            <a:glow rad="152400">
              <a:srgbClr val="FFC000">
                <a:alpha val="60000"/>
              </a:srgbClr>
            </a:glow>
            <a:outerShdw blurRad="114300" dist="50800" dir="16200000" algn="bl" rotWithShape="0">
              <a:srgbClr val="FFC000">
                <a:alpha val="4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35"/>
          <p:cNvSpPr/>
          <p:nvPr/>
        </p:nvSpPr>
        <p:spPr>
          <a:xfrm>
            <a:off x="3134932" y="6140196"/>
            <a:ext cx="1216152" cy="859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AGENTS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(JUDGEMENT)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36"/>
          <p:cNvSpPr/>
          <p:nvPr/>
        </p:nvSpPr>
        <p:spPr>
          <a:xfrm>
            <a:off x="3605848" y="4802124"/>
            <a:ext cx="274320" cy="384048"/>
          </a:xfrm>
          <a:prstGeom prst="up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39"/>
          <p:cNvSpPr/>
          <p:nvPr/>
        </p:nvSpPr>
        <p:spPr>
          <a:xfrm>
            <a:off x="5471478" y="5202936"/>
            <a:ext cx="0" cy="667512"/>
          </a:xfrm>
          <a:prstGeom prst="line">
            <a:avLst/>
          </a:prstGeom>
          <a:noFill/>
          <a:ln w="25400">
            <a:solidFill>
              <a:srgbClr val="FFC0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0"/>
          <p:cNvSpPr/>
          <p:nvPr/>
        </p:nvSpPr>
        <p:spPr>
          <a:xfrm>
            <a:off x="5463350" y="5751576"/>
            <a:ext cx="1624838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41"/>
          <p:cNvSpPr/>
          <p:nvPr/>
        </p:nvSpPr>
        <p:spPr>
          <a:xfrm>
            <a:off x="5442268" y="5513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Failures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42"/>
          <p:cNvSpPr/>
          <p:nvPr/>
        </p:nvSpPr>
        <p:spPr>
          <a:xfrm>
            <a:off x="4678744" y="61158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Complex Exceptions (w/ Research)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Shape 43"/>
          <p:cNvSpPr/>
          <p:nvPr/>
        </p:nvSpPr>
        <p:spPr>
          <a:xfrm rot="5400000">
            <a:off x="7764844" y="4983480"/>
            <a:ext cx="1024128" cy="2011680"/>
          </a:xfrm>
          <a:prstGeom prst="trapezoid">
            <a:avLst/>
          </a:prstGeom>
          <a:solidFill>
            <a:srgbClr val="0F2A4E">
              <a:alpha val="85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" name="Image 10" descr="/home/claude/icon_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668" y="5806440"/>
            <a:ext cx="365760" cy="365760"/>
          </a:xfrm>
          <a:prstGeom prst="rect">
            <a:avLst/>
          </a:prstGeom>
        </p:spPr>
      </p:pic>
      <p:sp>
        <p:nvSpPr>
          <p:cNvPr id="57" name="Text 44"/>
          <p:cNvSpPr/>
          <p:nvPr/>
        </p:nvSpPr>
        <p:spPr>
          <a:xfrm>
            <a:off x="7883716" y="55321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EXCEPTION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5"/>
          <p:cNvSpPr/>
          <p:nvPr/>
        </p:nvSpPr>
        <p:spPr>
          <a:xfrm>
            <a:off x="9282748" y="5870448"/>
            <a:ext cx="292608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6"/>
          <p:cNvSpPr/>
          <p:nvPr/>
        </p:nvSpPr>
        <p:spPr>
          <a:xfrm>
            <a:off x="9602788" y="5559552"/>
            <a:ext cx="2194560" cy="859536"/>
          </a:xfrm>
          <a:prstGeom prst="roundRect">
            <a:avLst>
              <a:gd name="adj" fmla="val 7447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11" descr="/home/claude/icon_stra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1660" y="5760720"/>
            <a:ext cx="457200" cy="457200"/>
          </a:xfrm>
          <a:prstGeom prst="rect">
            <a:avLst/>
          </a:prstGeom>
        </p:spPr>
      </p:pic>
      <p:sp>
        <p:nvSpPr>
          <p:cNvPr id="61" name="Text 47"/>
          <p:cNvSpPr/>
          <p:nvPr/>
        </p:nvSpPr>
        <p:spPr>
          <a:xfrm>
            <a:off x="10224580" y="5559552"/>
            <a:ext cx="1536192" cy="859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STRATEGIC HUMAN INTERVENTION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40">
            <a:extLst>
              <a:ext uri="{FF2B5EF4-FFF2-40B4-BE49-F238E27FC236}">
                <a16:creationId xmlns:a16="http://schemas.microsoft.com/office/drawing/2014/main" id="{243C1199-23D0-E1EC-B322-941E9D18E269}"/>
              </a:ext>
            </a:extLst>
          </p:cNvPr>
          <p:cNvSpPr/>
          <p:nvPr/>
        </p:nvSpPr>
        <p:spPr>
          <a:xfrm>
            <a:off x="4488244" y="6022848"/>
            <a:ext cx="2593086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39">
            <a:extLst>
              <a:ext uri="{FF2B5EF4-FFF2-40B4-BE49-F238E27FC236}">
                <a16:creationId xmlns:a16="http://schemas.microsoft.com/office/drawing/2014/main" id="{65B486F1-4376-A708-8110-13F051DF9B1A}"/>
              </a:ext>
            </a:extLst>
          </p:cNvPr>
          <p:cNvSpPr/>
          <p:nvPr/>
        </p:nvSpPr>
        <p:spPr>
          <a:xfrm>
            <a:off x="2303717" y="5190744"/>
            <a:ext cx="0" cy="667512"/>
          </a:xfrm>
          <a:prstGeom prst="line">
            <a:avLst/>
          </a:prstGeom>
          <a:noFill/>
          <a:ln w="25400">
            <a:solidFill>
              <a:srgbClr val="FFC0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40">
            <a:extLst>
              <a:ext uri="{FF2B5EF4-FFF2-40B4-BE49-F238E27FC236}">
                <a16:creationId xmlns:a16="http://schemas.microsoft.com/office/drawing/2014/main" id="{941D0095-2D6A-C8F5-6DFB-F38AE841A191}"/>
              </a:ext>
            </a:extLst>
          </p:cNvPr>
          <p:cNvSpPr/>
          <p:nvPr/>
        </p:nvSpPr>
        <p:spPr>
          <a:xfrm>
            <a:off x="2292670" y="5687568"/>
            <a:ext cx="641350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706166F-BA69-E7A6-3709-769ED570AC53}"/>
              </a:ext>
            </a:extLst>
          </p:cNvPr>
          <p:cNvSpPr/>
          <p:nvPr/>
        </p:nvSpPr>
        <p:spPr>
          <a:xfrm>
            <a:off x="2518707" y="3045350"/>
            <a:ext cx="9004321" cy="536050"/>
          </a:xfrm>
          <a:prstGeom prst="rightArrow">
            <a:avLst/>
          </a:prstGeom>
          <a:solidFill>
            <a:srgbClr val="10375F">
              <a:alpha val="92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397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6DB04D2-3C74-E019-B32E-FBE632350A12}"/>
              </a:ext>
            </a:extLst>
          </p:cNvPr>
          <p:cNvSpPr txBox="1"/>
          <p:nvPr/>
        </p:nvSpPr>
        <p:spPr>
          <a:xfrm>
            <a:off x="6581157" y="3200400"/>
            <a:ext cx="212034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AUTO-EXECUTED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(Example: ~50%)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6FC4F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B070FF0D-59FB-DB52-A761-C7CC12BB6096}"/>
              </a:ext>
            </a:extLst>
          </p:cNvPr>
          <p:cNvSpPr/>
          <p:nvPr/>
        </p:nvSpPr>
        <p:spPr>
          <a:xfrm rot="5400000">
            <a:off x="6507544" y="4133088"/>
            <a:ext cx="0" cy="640080"/>
          </a:xfrm>
          <a:prstGeom prst="line">
            <a:avLst/>
          </a:prstGeom>
          <a:noFill/>
          <a:ln w="19050">
            <a:solidFill>
              <a:srgbClr val="4FA8E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9" name="Image 9" descr="/home/claude/icon_brain.png">
            <a:extLst>
              <a:ext uri="{FF2B5EF4-FFF2-40B4-BE49-F238E27FC236}">
                <a16:creationId xmlns:a16="http://schemas.microsoft.com/office/drawing/2014/main" id="{38CD5D56-51CC-3D54-0B7A-E56DA29C02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76661" y="5514340"/>
            <a:ext cx="300471" cy="32918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DCA7C0D-D61A-63A1-A946-F26AFCDDCCFA}"/>
              </a:ext>
            </a:extLst>
          </p:cNvPr>
          <p:cNvSpPr txBox="1"/>
          <p:nvPr/>
        </p:nvSpPr>
        <p:spPr>
          <a:xfrm>
            <a:off x="10928668" y="-176201"/>
            <a:ext cx="9847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rgbClr val="8AD6FF"/>
                </a:solidFill>
              </a:rPr>
              <a:t>∞</a:t>
            </a:r>
          </a:p>
        </p:txBody>
      </p:sp>
      <p:pic>
        <p:nvPicPr>
          <p:cNvPr id="64" name="Image 9" descr="/home/claude/icon_brain.png">
            <a:extLst>
              <a:ext uri="{FF2B5EF4-FFF2-40B4-BE49-F238E27FC236}">
                <a16:creationId xmlns:a16="http://schemas.microsoft.com/office/drawing/2014/main" id="{A4D94555-7BB3-7A47-9A28-0E1D748AB7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09087" y="5701538"/>
            <a:ext cx="300471" cy="329184"/>
          </a:xfrm>
          <a:prstGeom prst="rect">
            <a:avLst/>
          </a:prstGeom>
        </p:spPr>
      </p:pic>
      <p:pic>
        <p:nvPicPr>
          <p:cNvPr id="68" name="Image 9" descr="/home/claude/icon_brain.png">
            <a:extLst>
              <a:ext uri="{FF2B5EF4-FFF2-40B4-BE49-F238E27FC236}">
                <a16:creationId xmlns:a16="http://schemas.microsoft.com/office/drawing/2014/main" id="{AD56B588-4E4E-64C1-4A6D-ADCB3B4E74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41513" y="5888736"/>
            <a:ext cx="300471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55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5081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785A"/>
                </a:solidFill>
                <a:latin typeface="Segoe UI"/>
              </a:rPr>
              <a:t>AGENT MESH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170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093B5F"/>
                </a:solidFill>
                <a:latin typeface="Segoe UI"/>
              </a:rPr>
              <a:t>Why </a:t>
            </a: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a</a:t>
            </a:r>
            <a:r>
              <a:rPr sz="3200" b="1" i="0" dirty="0">
                <a:solidFill>
                  <a:srgbClr val="093B5F"/>
                </a:solidFill>
                <a:latin typeface="Segoe UI"/>
              </a:rPr>
              <a:t> broker, and not point-to-point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7493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2124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580" y="2424698"/>
            <a:ext cx="7603893" cy="191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 dirty="0">
                <a:solidFill>
                  <a:srgbClr val="093B5F"/>
                </a:solidFill>
                <a:latin typeface="Segoe UI"/>
              </a:rPr>
              <a:t>Google A2A makes agents interoperable </a:t>
            </a:r>
            <a:endParaRPr lang="en-US" sz="24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-</a:t>
            </a:r>
            <a:r>
              <a:rPr sz="2000" b="1" i="0" dirty="0">
                <a:solidFill>
                  <a:srgbClr val="093B5F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4C5F70"/>
                </a:solidFill>
                <a:latin typeface="Segoe UI"/>
              </a:rPr>
              <a:t>publish a card, discover, call across frameworks.</a:t>
            </a:r>
            <a:endParaRPr lang="en-US" sz="2000" b="0" i="0" dirty="0">
              <a:solidFill>
                <a:srgbClr val="4C5F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2400" b="0" i="0" dirty="0">
              <a:solidFill>
                <a:srgbClr val="4C5F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 dirty="0">
                <a:solidFill>
                  <a:srgbClr val="093B5F"/>
                </a:solidFill>
                <a:latin typeface="Segoe UI"/>
              </a:rPr>
              <a:t>Solace makes that traffic reliable and scalable </a:t>
            </a:r>
            <a:endParaRPr lang="en-US" sz="24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-</a:t>
            </a:r>
            <a:r>
              <a:rPr sz="2000" b="1" i="0" dirty="0">
                <a:solidFill>
                  <a:srgbClr val="093B5F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4C5F70"/>
                </a:solidFill>
                <a:latin typeface="Segoe UI"/>
              </a:rPr>
              <a:t>queues, fan-out, guaranteed delivery.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7879" y="6172200"/>
            <a:ext cx="45719" cy="406238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9800" y="6273451"/>
            <a:ext cx="1024128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93B5F"/>
                </a:solidFill>
                <a:latin typeface="Segoe UI"/>
              </a:rPr>
              <a:t>A2A defines how agents talk; the broker decides whether the conversation survives. Same tools, same thresholds, different transport.</a:t>
            </a:r>
          </a:p>
        </p:txBody>
      </p:sp>
      <p:sp>
        <p:nvSpPr>
          <p:cNvPr id="200" name="Card201"/>
          <p:cNvSpPr/>
          <p:nvPr/>
        </p:nvSpPr>
        <p:spPr>
          <a:xfrm>
            <a:off x="812800" y="4718304"/>
            <a:ext cx="5156200" cy="1120104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sz="16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1" name="T202"/>
          <p:cNvSpPr txBox="1"/>
          <p:nvPr/>
        </p:nvSpPr>
        <p:spPr>
          <a:xfrm>
            <a:off x="1066800" y="4870703"/>
            <a:ext cx="4648200" cy="92277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400" b="1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Fan-out: replies route by who asked, on one subscription</a:t>
            </a:r>
          </a:p>
          <a:p>
            <a:pPr algn="l">
              <a:spcAft>
                <a:spcPts val="0"/>
              </a:spcAft>
            </a:pPr>
            <a:r>
              <a:rPr lang="en-US" sz="1100" b="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The delegator subscribes once and receives every reply — no connection per callee, no correlation table</a:t>
            </a:r>
          </a:p>
        </p:txBody>
      </p:sp>
      <p:sp>
        <p:nvSpPr>
          <p:cNvPr id="202" name="Card203"/>
          <p:cNvSpPr/>
          <p:nvPr/>
        </p:nvSpPr>
        <p:spPr>
          <a:xfrm>
            <a:off x="6172200" y="4718304"/>
            <a:ext cx="5156200" cy="1120104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sz="16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3" name="T204"/>
          <p:cNvSpPr txBox="1"/>
          <p:nvPr/>
        </p:nvSpPr>
        <p:spPr>
          <a:xfrm>
            <a:off x="6426200" y="4870703"/>
            <a:ext cx="4648200" cy="92277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400" b="1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An agent dies mid-workflow: the queue spools, the agent finishes on reconnect</a:t>
            </a:r>
          </a:p>
          <a:p>
            <a:pPr algn="l">
              <a:spcAft>
                <a:spcPts val="0"/>
              </a:spcAft>
            </a:pPr>
            <a:r>
              <a:rPr lang="en-US" sz="1100" b="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The synchronous arm loses the request outright — no queue, no retry target, and client retries have nothing to retry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76705-2D4C-318E-49C9-5548E3207ADA}"/>
              </a:ext>
            </a:extLst>
          </p:cNvPr>
          <p:cNvSpPr txBox="1"/>
          <p:nvPr/>
        </p:nvSpPr>
        <p:spPr>
          <a:xfrm>
            <a:off x="1464527" y="1771179"/>
            <a:ext cx="6096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Human escalation is deliberate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E40F59-0269-84C2-8106-7D5906A7E39F}"/>
              </a:ext>
            </a:extLst>
          </p:cNvPr>
          <p:cNvSpPr txBox="1"/>
          <p:nvPr/>
        </p:nvSpPr>
        <p:spPr>
          <a:xfrm>
            <a:off x="3287756" y="2873697"/>
            <a:ext cx="639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+</a:t>
            </a:r>
          </a:p>
        </p:txBody>
      </p:sp>
      <p:pic>
        <p:nvPicPr>
          <p:cNvPr id="7" name="Picture 6" descr="A2A Extensions: Empowering Custom Agent Functionality - Google Developers  Blog">
            <a:extLst>
              <a:ext uri="{FF2B5EF4-FFF2-40B4-BE49-F238E27FC236}">
                <a16:creationId xmlns:a16="http://schemas.microsoft.com/office/drawing/2014/main" id="{3A49C4D0-2E17-0A15-575C-60424F98F83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36606" r="35766"/>
          <a:stretch>
            <a:fillRect/>
          </a:stretch>
        </p:blipFill>
        <p:spPr>
          <a:xfrm>
            <a:off x="10872776" y="250244"/>
            <a:ext cx="931567" cy="1004254"/>
          </a:xfrm>
          <a:prstGeom prst="rect">
            <a:avLst/>
          </a:prstGeom>
        </p:spPr>
      </p:pic>
      <p:pic>
        <p:nvPicPr>
          <p:cNvPr id="12" name="Graphic 11" descr="Components and Capabilities - Agent Mesh">
            <a:extLst>
              <a:ext uri="{FF2B5EF4-FFF2-40B4-BE49-F238E27FC236}">
                <a16:creationId xmlns:a16="http://schemas.microsoft.com/office/drawing/2014/main" id="{D5CFD1AB-9383-81EF-16DE-0D5B631B91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0527" y="1896693"/>
            <a:ext cx="4302721" cy="238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592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800" b="1" i="0">
                <a:solidFill>
                  <a:srgbClr val="093B5F"/>
                </a:solidFill>
                <a:latin typeface="Segoe UI"/>
              </a:rPr>
              <a:t>Questions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C5F70"/>
                </a:solidFill>
                <a:latin typeface="Segoe UI"/>
              </a:rPr>
              <a:t>Design decisions, rejected alternatives, and what surprised us</a:t>
            </a:r>
          </a:p>
        </p:txBody>
      </p:sp>
    </p:spTree>
    <p:extLst>
      <p:ext uri="{BB962C8B-B14F-4D97-AF65-F5344CB8AC3E}">
        <p14:creationId xmlns:p14="http://schemas.microsoft.com/office/powerpoint/2010/main" val="1731175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FAQ</a:t>
            </a:r>
            <a:endParaRPr sz="3200" b="1" i="0" dirty="0">
              <a:solidFill>
                <a:srgbClr val="093B5F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249424"/>
            <a:ext cx="10515600" cy="260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"Do you get exactly-once?"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No. At-least-once with idempotent consumers keyed on (orderId, exceptionId). Nobody gets exactly-once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"Why is the order id last?"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Subscribing and looking up are different operations. Lookup is served by the audit read model, not a subscription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"Why aren't the queues partitioned?"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Replay works only on non-partitioned queues. At scale: partition the service queues, keep audit non-partitioned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"What surprised you?"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Three places where configuration split across components fails silently</a:t>
            </a:r>
          </a:p>
        </p:txBody>
      </p:sp>
    </p:spTree>
    <p:extLst>
      <p:ext uri="{BB962C8B-B14F-4D97-AF65-F5344CB8AC3E}">
        <p14:creationId xmlns:p14="http://schemas.microsoft.com/office/powerpoint/2010/main" val="50114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APPENDIX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Three silent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249424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DMQ eligibility is publisher-side. Redelivery limits are queue-side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Set one without the other and exhausted messages are discarded while all config looks correct</a:t>
            </a:r>
          </a:p>
          <a:p>
            <a:pPr algn="l">
              <a:spcBef>
                <a:spcPts val="15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respect-ttl is refused outright on the dead message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A DMQ is where expired messages land. Honouring TTL there would expire them twice</a:t>
            </a:r>
          </a:p>
          <a:p>
            <a:pPr algn="l">
              <a:spcBef>
                <a:spcPts val="15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A mistyped connection property is dropped, not rejected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It surfaces as 'mandatory properties missing', which sends you looking at credentials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38100" cy="640080"/>
          </a:xfrm>
          <a:prstGeom prst="rect">
            <a:avLst/>
          </a:prstGeom>
          <a:solidFill>
            <a:srgbClr val="0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508406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93B5F"/>
                </a:solidFill>
                <a:latin typeface="Segoe UI"/>
              </a:rPr>
              <a:t>A pattern in the platform, not a list of gotchas. All three found by building it.</a:t>
            </a:r>
          </a:p>
        </p:txBody>
      </p:sp>
      <p:sp>
        <p:nvSpPr>
          <p:cNvPr id="8" name="SolaceWordmark">
            <a:extLst>
              <a:ext uri="{FF2B5EF4-FFF2-40B4-BE49-F238E27FC236}">
                <a16:creationId xmlns:a16="http://schemas.microsoft.com/office/drawing/2014/main" id="{7B9D5DD8-D5E9-47B0-8FB5-2301FF558672}"/>
              </a:ext>
            </a:extLst>
          </p:cNvPr>
          <p:cNvSpPr txBox="1"/>
          <p:nvPr/>
        </p:nvSpPr>
        <p:spPr>
          <a:xfrm>
            <a:off x="10325100" y="5969000"/>
            <a:ext cx="10414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093B5F"/>
                </a:solidFill>
                <a:latin typeface="Segoe UI"/>
                <a:cs typeface="Segoe UI"/>
              </a:rPr>
              <a:t>solace</a:t>
            </a:r>
          </a:p>
        </p:txBody>
      </p:sp>
      <p:sp>
        <p:nvSpPr>
          <p:cNvPr id="9" name="SolaceAccentBar">
            <a:extLst>
              <a:ext uri="{FF2B5EF4-FFF2-40B4-BE49-F238E27FC236}">
                <a16:creationId xmlns:a16="http://schemas.microsoft.com/office/drawing/2014/main" id="{198B9E09-2A81-47C1-85A7-4501EAB50780}"/>
              </a:ext>
            </a:extLst>
          </p:cNvPr>
          <p:cNvSpPr/>
          <p:nvPr/>
        </p:nvSpPr>
        <p:spPr>
          <a:xfrm>
            <a:off x="10325100" y="5867400"/>
            <a:ext cx="381000" cy="508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236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385205942]">
  <a:themeElements>
    <a:clrScheme name="Office">
      <a:dk1>
        <a:srgbClr val="0E2A3E"/>
      </a:dk1>
      <a:lt1>
        <a:srgbClr val="FFFFFF"/>
      </a:lt1>
      <a:dk2>
        <a:srgbClr val="093B5F"/>
      </a:dk2>
      <a:lt2>
        <a:srgbClr val="F1F5F8"/>
      </a:lt2>
      <a:accent1>
        <a:srgbClr val="00C895"/>
      </a:accent1>
      <a:accent2>
        <a:srgbClr val="093B5F"/>
      </a:accent2>
      <a:accent3>
        <a:srgbClr val="00785A"/>
      </a:accent3>
      <a:accent4>
        <a:srgbClr val="E07B2C"/>
      </a:accent4>
      <a:accent5>
        <a:srgbClr val="D8CFB3"/>
      </a:accent5>
      <a:accent6>
        <a:srgbClr val="4C5F70"/>
      </a:accent6>
      <a:hlink>
        <a:srgbClr val="0000FF"/>
      </a:hlink>
      <a:folHlink>
        <a:srgbClr val="800080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33856A1-79B4-459A-BC5A-B08EA17BF16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887a3fc-ece6-4610-8669-c9b8cb34e6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1985</TotalTime>
  <Words>2103</Words>
  <Application>Microsoft Office PowerPoint</Application>
  <PresentationFormat>Widescreen</PresentationFormat>
  <Paragraphs>228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Segoe UI</vt:lpstr>
      <vt:lpstr>Office Theme [1788385205942]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tony august</cp:lastModifiedBy>
  <cp:revision>7</cp:revision>
  <cp:lastPrinted>2026-09-02T21:51:15Z</cp:lastPrinted>
  <dcterms:created xsi:type="dcterms:W3CDTF">2013-01-27T09:14:16Z</dcterms:created>
  <dcterms:modified xsi:type="dcterms:W3CDTF">2026-09-04T14:56:01Z</dcterms:modified>
  <cp:category/>
</cp:coreProperties>
</file>