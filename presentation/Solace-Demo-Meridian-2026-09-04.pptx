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8"/>
  </p:notesMasterIdLst>
  <p:sldIdLst>
    <p:sldId id="306" r:id="rId2"/>
    <p:sldId id="305" r:id="rId3"/>
    <p:sldId id="325" r:id="rId4"/>
    <p:sldId id="327" r:id="rId5"/>
    <p:sldId id="328" r:id="rId6"/>
    <p:sldId id="312" r:id="rId7"/>
    <p:sldId id="323" r:id="rId8"/>
    <p:sldId id="334" r:id="rId9"/>
    <p:sldId id="330" r:id="rId10"/>
    <p:sldId id="331" r:id="rId11"/>
    <p:sldId id="316" r:id="rId12"/>
    <p:sldId id="332" r:id="rId13"/>
    <p:sldId id="333" r:id="rId14"/>
    <p:sldId id="318" r:id="rId15"/>
    <p:sldId id="319" r:id="rId16"/>
    <p:sldId id="320" r:id="rId17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5F70"/>
    <a:srgbClr val="007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D988F-889B-483D-889E-02BC87B607D3}" v="4" dt="2026-09-04T02:53:19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2" y="1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2472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august" userId="0e1c2837a28b706a" providerId="LiveId" clId="{AD05CBBD-285A-40D0-ABA1-E4D8FAD69F9B}"/>
    <pc:docChg chg="undo custSel addSld delSld modSld modNotesMaster">
      <pc:chgData name="tony august" userId="0e1c2837a28b706a" providerId="LiveId" clId="{AD05CBBD-285A-40D0-ABA1-E4D8FAD69F9B}" dt="2026-09-04T02:54:44.347" v="1758"/>
      <pc:docMkLst>
        <pc:docMk/>
      </pc:docMkLst>
      <pc:sldChg chg="addSp delSp modSp add mod modNotes">
        <pc:chgData name="tony august" userId="0e1c2837a28b706a" providerId="LiveId" clId="{AD05CBBD-285A-40D0-ABA1-E4D8FAD69F9B}" dt="2026-09-03T02:02:18.310" v="1243" actId="20577"/>
        <pc:sldMkLst>
          <pc:docMk/>
          <pc:sldMk cId="3008254902" sldId="305"/>
        </pc:sldMkLst>
        <pc:spChg chg="mod">
          <ac:chgData name="tony august" userId="0e1c2837a28b706a" providerId="LiveId" clId="{AD05CBBD-285A-40D0-ABA1-E4D8FAD69F9B}" dt="2026-09-02T23:04:44.953" v="1209" actId="20577"/>
          <ac:spMkLst>
            <pc:docMk/>
            <pc:sldMk cId="3008254902" sldId="305"/>
            <ac:spMk id="8" creationId="{379ADECF-01D5-4E38-AE26-C209C91DFF53}"/>
          </ac:spMkLst>
        </pc:spChg>
        <pc:spChg chg="add mod">
          <ac:chgData name="tony august" userId="0e1c2837a28b706a" providerId="LiveId" clId="{AD05CBBD-285A-40D0-ABA1-E4D8FAD69F9B}" dt="2026-09-03T02:01:56.681" v="1214" actId="1076"/>
          <ac:spMkLst>
            <pc:docMk/>
            <pc:sldMk cId="3008254902" sldId="305"/>
            <ac:spMk id="12" creationId="{1C023DCC-2AFE-40C2-AD96-576EE1B1AFFA}"/>
          </ac:spMkLst>
        </pc:spChg>
        <pc:spChg chg="mod">
          <ac:chgData name="tony august" userId="0e1c2837a28b706a" providerId="LiveId" clId="{AD05CBBD-285A-40D0-ABA1-E4D8FAD69F9B}" dt="2026-09-03T02:02:09.490" v="1239" actId="20577"/>
          <ac:spMkLst>
            <pc:docMk/>
            <pc:sldMk cId="3008254902" sldId="305"/>
            <ac:spMk id="16" creationId="{8804765A-CB9C-46F6-8973-800AFED839EA}"/>
          </ac:spMkLst>
        </pc:spChg>
        <pc:spChg chg="mod">
          <ac:chgData name="tony august" userId="0e1c2837a28b706a" providerId="LiveId" clId="{AD05CBBD-285A-40D0-ABA1-E4D8FAD69F9B}" dt="2026-09-03T02:01:59.494" v="1216" actId="1076"/>
          <ac:spMkLst>
            <pc:docMk/>
            <pc:sldMk cId="3008254902" sldId="305"/>
            <ac:spMk id="18" creationId="{3D296178-C3B9-4F82-A260-D44B8F78232E}"/>
          </ac:spMkLst>
        </pc:spChg>
        <pc:spChg chg="mod">
          <ac:chgData name="tony august" userId="0e1c2837a28b706a" providerId="LiveId" clId="{AD05CBBD-285A-40D0-ABA1-E4D8FAD69F9B}" dt="2026-09-03T02:02:18.310" v="1243" actId="20577"/>
          <ac:spMkLst>
            <pc:docMk/>
            <pc:sldMk cId="3008254902" sldId="305"/>
            <ac:spMk id="20" creationId="{8529438C-B1F6-4B6B-99BB-93E07F16BFD1}"/>
          </ac:spMkLst>
        </pc:spChg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691641304" sldId="306"/>
        </pc:sldMkLst>
      </pc:sldChg>
      <pc:sldChg chg="modSp add del mod modNotes">
        <pc:chgData name="tony august" userId="0e1c2837a28b706a" providerId="LiveId" clId="{AD05CBBD-285A-40D0-ABA1-E4D8FAD69F9B}" dt="2026-09-04T01:17:34.298" v="1314"/>
        <pc:sldMkLst>
          <pc:docMk/>
          <pc:sldMk cId="675931389" sldId="310"/>
        </pc:sldMkLst>
      </pc:sldChg>
      <pc:sldChg chg="modSp add del mod modNotes">
        <pc:chgData name="tony august" userId="0e1c2837a28b706a" providerId="LiveId" clId="{AD05CBBD-285A-40D0-ABA1-E4D8FAD69F9B}" dt="2026-09-04T01:17:54.179" v="1316"/>
        <pc:sldMkLst>
          <pc:docMk/>
          <pc:sldMk cId="1822803354" sldId="311"/>
        </pc:sldMkLst>
        <pc:spChg chg="mod">
          <ac:chgData name="tony august" userId="0e1c2837a28b706a" providerId="LiveId" clId="{AD05CBBD-285A-40D0-ABA1-E4D8FAD69F9B}" dt="2026-09-03T22:45:45.445" v="1312" actId="20577"/>
          <ac:spMkLst>
            <pc:docMk/>
            <pc:sldMk cId="1822803354" sldId="311"/>
            <ac:spMk id="5" creationId="{00000000-0000-0000-0000-000000000000}"/>
          </ac:spMkLst>
        </pc:spChg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3719941013" sldId="312"/>
        </pc:sldMkLst>
      </pc:sldChg>
      <pc:sldChg chg="modSp add del mod modNotes">
        <pc:chgData name="tony august" userId="0e1c2837a28b706a" providerId="LiveId" clId="{AD05CBBD-285A-40D0-ABA1-E4D8FAD69F9B}" dt="2026-09-04T01:26:50.434" v="1350"/>
        <pc:sldMkLst>
          <pc:docMk/>
          <pc:sldMk cId="1668422566" sldId="313"/>
        </pc:sldMkLst>
        <pc:spChg chg="mod">
          <ac:chgData name="tony august" userId="0e1c2837a28b706a" providerId="LiveId" clId="{AD05CBBD-285A-40D0-ABA1-E4D8FAD69F9B}" dt="2026-09-03T22:42:48.594" v="1288" actId="20577"/>
          <ac:spMkLst>
            <pc:docMk/>
            <pc:sldMk cId="1668422566" sldId="313"/>
            <ac:spMk id="8" creationId="{00000000-0000-0000-0000-000000000000}"/>
          </ac:spMkLst>
        </pc:spChg>
      </pc:sldChg>
      <pc:sldChg chg="add del modNotes">
        <pc:chgData name="tony august" userId="0e1c2837a28b706a" providerId="LiveId" clId="{AD05CBBD-285A-40D0-ABA1-E4D8FAD69F9B}" dt="2026-09-04T01:27:15.418" v="1352"/>
        <pc:sldMkLst>
          <pc:docMk/>
          <pc:sldMk cId="2895315029" sldId="314"/>
        </pc:sldMkLst>
      </pc:sldChg>
      <pc:sldChg chg="modSp add del mod modNotes">
        <pc:chgData name="tony august" userId="0e1c2837a28b706a" providerId="LiveId" clId="{AD05CBBD-285A-40D0-ABA1-E4D8FAD69F9B}" dt="2026-09-04T01:27:35.321" v="1354"/>
        <pc:sldMkLst>
          <pc:docMk/>
          <pc:sldMk cId="640516793" sldId="315"/>
        </pc:sldMkLst>
        <pc:spChg chg="mod">
          <ac:chgData name="tony august" userId="0e1c2837a28b706a" providerId="LiveId" clId="{AD05CBBD-285A-40D0-ABA1-E4D8FAD69F9B}" dt="2026-09-03T22:42:36.276" v="1276" actId="20577"/>
          <ac:spMkLst>
            <pc:docMk/>
            <pc:sldMk cId="640516793" sldId="315"/>
            <ac:spMk id="7" creationId="{00000000-0000-0000-0000-000000000000}"/>
          </ac:spMkLst>
        </pc:spChg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2609383768" sldId="316"/>
        </pc:sldMkLst>
      </pc:sldChg>
      <pc:sldChg chg="modSp add del mod modNotes">
        <pc:chgData name="tony august" userId="0e1c2837a28b706a" providerId="LiveId" clId="{AD05CBBD-285A-40D0-ABA1-E4D8FAD69F9B}" dt="2026-09-04T01:27:53.673" v="1356"/>
        <pc:sldMkLst>
          <pc:docMk/>
          <pc:sldMk cId="1343424890" sldId="317"/>
        </pc:sldMkLst>
        <pc:spChg chg="mod">
          <ac:chgData name="tony august" userId="0e1c2837a28b706a" providerId="LiveId" clId="{AD05CBBD-285A-40D0-ABA1-E4D8FAD69F9B}" dt="2026-09-03T22:42:04.110" v="1252" actId="20577"/>
          <ac:spMkLst>
            <pc:docMk/>
            <pc:sldMk cId="1343424890" sldId="317"/>
            <ac:spMk id="7" creationId="{00000000-0000-0000-0000-000000000000}"/>
          </ac:spMkLst>
        </pc:spChg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1731175350" sldId="318"/>
        </pc:sldMkLst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501147724" sldId="319"/>
        </pc:sldMkLst>
      </pc:sldChg>
      <pc:sldChg chg="add modNotes">
        <pc:chgData name="tony august" userId="0e1c2837a28b706a" providerId="LiveId" clId="{AD05CBBD-285A-40D0-ABA1-E4D8FAD69F9B}" dt="2026-09-02T21:50:50.075" v="34"/>
        <pc:sldMkLst>
          <pc:docMk/>
          <pc:sldMk cId="3550236996" sldId="320"/>
        </pc:sldMkLst>
      </pc:sldChg>
      <pc:sldChg chg="delSp mod">
        <pc:chgData name="tony august" userId="0e1c2837a28b706a" providerId="LiveId" clId="{AD05CBBD-285A-40D0-ABA1-E4D8FAD69F9B}" dt="2026-09-03T02:17:51.378" v="1244" actId="478"/>
        <pc:sldMkLst>
          <pc:docMk/>
          <pc:sldMk cId="0" sldId="321"/>
        </pc:sldMkLst>
        <pc:spChg chg="del">
          <ac:chgData name="tony august" userId="0e1c2837a28b706a" providerId="LiveId" clId="{AD05CBBD-285A-40D0-ABA1-E4D8FAD69F9B}" dt="2026-09-03T02:17:51.378" v="1244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tony august" userId="0e1c2837a28b706a" providerId="LiveId" clId="{AD05CBBD-285A-40D0-ABA1-E4D8FAD69F9B}" dt="2026-09-03T02:17:51.378" v="1244" actId="478"/>
          <ac:spMkLst>
            <pc:docMk/>
            <pc:sldMk cId="0" sldId="321"/>
            <ac:spMk id="6" creationId="{00000000-0000-0000-0000-000000000000}"/>
          </ac:spMkLst>
        </pc:spChg>
      </pc:sldChg>
      <pc:sldChg chg="modSp del mod">
        <pc:chgData name="tony august" userId="0e1c2837a28b706a" providerId="LiveId" clId="{AD05CBBD-285A-40D0-ABA1-E4D8FAD69F9B}" dt="2026-09-04T01:28:11.763" v="1358"/>
        <pc:sldMkLst>
          <pc:docMk/>
          <pc:sldMk cId="0" sldId="326"/>
        </pc:sldMkLst>
        <pc:spChg chg="mod">
          <ac:chgData name="tony august" userId="0e1c2837a28b706a" providerId="LiveId" clId="{AD05CBBD-285A-40D0-ABA1-E4D8FAD69F9B}" dt="2026-09-03T22:42:12.702" v="1260" actId="20577"/>
          <ac:spMkLst>
            <pc:docMk/>
            <pc:sldMk cId="0" sldId="326"/>
            <ac:spMk id="7" creationId="{00000000-0000-0000-0000-000000000000}"/>
          </ac:spMkLst>
        </pc:spChg>
      </pc:sldChg>
      <pc:sldChg chg="modSp add mod">
        <pc:chgData name="tony august" userId="0e1c2837a28b706a" providerId="LiveId" clId="{AD05CBBD-285A-40D0-ABA1-E4D8FAD69F9B}" dt="2026-09-04T01:18:51.686" v="1348"/>
        <pc:sldMkLst>
          <pc:docMk/>
          <pc:sldMk cId="698426052" sldId="327"/>
        </pc:sldMkLst>
        <pc:spChg chg="mod">
          <ac:chgData name="tony august" userId="0e1c2837a28b706a" providerId="LiveId" clId="{AD05CBBD-285A-40D0-ABA1-E4D8FAD69F9B}" dt="2026-09-04T01:18:51.673" v="1334"/>
          <ac:spMkLst>
            <pc:docMk/>
            <pc:sldMk cId="698426052" sldId="327"/>
            <ac:spMk id="200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75" v="1336"/>
          <ac:spMkLst>
            <pc:docMk/>
            <pc:sldMk cId="698426052" sldId="327"/>
            <ac:spMk id="201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76" v="1337"/>
          <ac:spMkLst>
            <pc:docMk/>
            <pc:sldMk cId="698426052" sldId="327"/>
            <ac:spMk id="202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77" v="1339"/>
          <ac:spMkLst>
            <pc:docMk/>
            <pc:sldMk cId="698426052" sldId="327"/>
            <ac:spMk id="203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78" v="1341"/>
          <ac:spMkLst>
            <pc:docMk/>
            <pc:sldMk cId="698426052" sldId="327"/>
            <ac:spMk id="204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81" v="1342"/>
          <ac:spMkLst>
            <pc:docMk/>
            <pc:sldMk cId="698426052" sldId="327"/>
            <ac:spMk id="205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83" v="1344"/>
          <ac:spMkLst>
            <pc:docMk/>
            <pc:sldMk cId="698426052" sldId="327"/>
            <ac:spMk id="206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84" v="1346"/>
          <ac:spMkLst>
            <pc:docMk/>
            <pc:sldMk cId="698426052" sldId="327"/>
            <ac:spMk id="207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18:51.685" v="1347"/>
          <ac:spMkLst>
            <pc:docMk/>
            <pc:sldMk cId="698426052" sldId="327"/>
            <ac:spMk id="208" creationId="{00000000-0000-0000-0000-000000000000}"/>
          </ac:spMkLst>
        </pc:spChg>
        <pc:picChg chg="mod">
          <ac:chgData name="tony august" userId="0e1c2837a28b706a" providerId="LiveId" clId="{AD05CBBD-285A-40D0-ABA1-E4D8FAD69F9B}" dt="2026-09-04T01:18:51.686" v="1348"/>
          <ac:picMkLst>
            <pc:docMk/>
            <pc:sldMk cId="698426052" sldId="327"/>
            <ac:picMk id="8" creationId="{236F97E8-E7E6-C643-B8A4-F1EC34D363CE}"/>
          </ac:picMkLst>
        </pc:picChg>
      </pc:sldChg>
      <pc:sldChg chg="add">
        <pc:chgData name="tony august" userId="0e1c2837a28b706a" providerId="LiveId" clId="{AD05CBBD-285A-40D0-ABA1-E4D8FAD69F9B}" dt="2026-09-04T01:17:54.173" v="1315"/>
        <pc:sldMkLst>
          <pc:docMk/>
          <pc:sldMk cId="4061422271" sldId="328"/>
        </pc:sldMkLst>
      </pc:sldChg>
      <pc:sldChg chg="add del">
        <pc:chgData name="tony august" userId="0e1c2837a28b706a" providerId="LiveId" clId="{AD05CBBD-285A-40D0-ABA1-E4D8FAD69F9B}" dt="2026-09-04T01:28:30.066" v="1360"/>
        <pc:sldMkLst>
          <pc:docMk/>
          <pc:sldMk cId="1139307564" sldId="329"/>
        </pc:sldMkLst>
      </pc:sldChg>
      <pc:sldChg chg="add">
        <pc:chgData name="tony august" userId="0e1c2837a28b706a" providerId="LiveId" clId="{AD05CBBD-285A-40D0-ABA1-E4D8FAD69F9B}" dt="2026-09-04T01:27:15.405" v="1351"/>
        <pc:sldMkLst>
          <pc:docMk/>
          <pc:sldMk cId="2843641642" sldId="330"/>
        </pc:sldMkLst>
      </pc:sldChg>
      <pc:sldChg chg="modSp add mod">
        <pc:chgData name="tony august" userId="0e1c2837a28b706a" providerId="LiveId" clId="{AD05CBBD-285A-40D0-ABA1-E4D8FAD69F9B}" dt="2026-09-04T02:29:45.929" v="1749" actId="6549"/>
        <pc:sldMkLst>
          <pc:docMk/>
          <pc:sldMk cId="2488136294" sldId="331"/>
        </pc:sldMkLst>
        <pc:spChg chg="mod">
          <ac:chgData name="tony august" userId="0e1c2837a28b706a" providerId="LiveId" clId="{AD05CBBD-285A-40D0-ABA1-E4D8FAD69F9B}" dt="2026-09-04T02:05:15.865" v="1494" actId="20577"/>
          <ac:spMkLst>
            <pc:docMk/>
            <pc:sldMk cId="2488136294" sldId="331"/>
            <ac:spMk id="3" creationId="{00000000-0000-0000-0000-000000000000}"/>
          </ac:spMkLst>
        </pc:spChg>
        <pc:spChg chg="mod">
          <ac:chgData name="tony august" userId="0e1c2837a28b706a" providerId="LiveId" clId="{AD05CBBD-285A-40D0-ABA1-E4D8FAD69F9B}" dt="2026-09-04T01:51:38.117" v="1418" actId="20577"/>
          <ac:spMkLst>
            <pc:docMk/>
            <pc:sldMk cId="2488136294" sldId="331"/>
            <ac:spMk id="201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29:45.929" v="1749" actId="6549"/>
          <ac:spMkLst>
            <pc:docMk/>
            <pc:sldMk cId="2488136294" sldId="331"/>
            <ac:spMk id="203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27:01.396" v="1558" actId="6549"/>
          <ac:spMkLst>
            <pc:docMk/>
            <pc:sldMk cId="2488136294" sldId="331"/>
            <ac:spMk id="207" creationId="{00000000-0000-0000-0000-000000000000}"/>
          </ac:spMkLst>
        </pc:spChg>
      </pc:sldChg>
      <pc:sldChg chg="add">
        <pc:chgData name="tony august" userId="0e1c2837a28b706a" providerId="LiveId" clId="{AD05CBBD-285A-40D0-ABA1-E4D8FAD69F9B}" dt="2026-09-04T01:27:53.663" v="1355"/>
        <pc:sldMkLst>
          <pc:docMk/>
          <pc:sldMk cId="1453052294" sldId="332"/>
        </pc:sldMkLst>
      </pc:sldChg>
      <pc:sldChg chg="add">
        <pc:chgData name="tony august" userId="0e1c2837a28b706a" providerId="LiveId" clId="{AD05CBBD-285A-40D0-ABA1-E4D8FAD69F9B}" dt="2026-09-04T01:28:11.755" v="1357"/>
        <pc:sldMkLst>
          <pc:docMk/>
          <pc:sldMk cId="2392921007" sldId="333"/>
        </pc:sldMkLst>
      </pc:sldChg>
      <pc:sldChg chg="modSp add mod">
        <pc:chgData name="tony august" userId="0e1c2837a28b706a" providerId="LiveId" clId="{AD05CBBD-285A-40D0-ABA1-E4D8FAD69F9B}" dt="2026-09-04T02:54:44.347" v="1758"/>
        <pc:sldMkLst>
          <pc:docMk/>
          <pc:sldMk cId="3136990422" sldId="334"/>
        </pc:sldMkLst>
        <pc:spChg chg="mod">
          <ac:chgData name="tony august" userId="0e1c2837a28b706a" providerId="LiveId" clId="{AD05CBBD-285A-40D0-ABA1-E4D8FAD69F9B}" dt="2026-09-04T02:54:44.342" v="1752"/>
          <ac:spMkLst>
            <pc:docMk/>
            <pc:sldMk cId="3136990422" sldId="334"/>
            <ac:spMk id="7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39" v="1750"/>
          <ac:spMkLst>
            <pc:docMk/>
            <pc:sldMk cId="3136990422" sldId="334"/>
            <ac:spMk id="200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3" v="1753"/>
          <ac:spMkLst>
            <pc:docMk/>
            <pc:sldMk cId="3136990422" sldId="334"/>
            <ac:spMk id="201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6" v="1756"/>
          <ac:spMkLst>
            <pc:docMk/>
            <pc:sldMk cId="3136990422" sldId="334"/>
            <ac:spMk id="202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3" v="1754"/>
          <ac:spMkLst>
            <pc:docMk/>
            <pc:sldMk cId="3136990422" sldId="334"/>
            <ac:spMk id="203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6" v="1757"/>
          <ac:spMkLst>
            <pc:docMk/>
            <pc:sldMk cId="3136990422" sldId="334"/>
            <ac:spMk id="204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5" v="1755"/>
          <ac:spMkLst>
            <pc:docMk/>
            <pc:sldMk cId="3136990422" sldId="334"/>
            <ac:spMk id="205" creationId="{00000000-0000-0000-0000-000000000000}"/>
          </ac:spMkLst>
        </pc:spChg>
        <pc:spChg chg="mod">
          <ac:chgData name="tony august" userId="0e1c2837a28b706a" providerId="LiveId" clId="{AD05CBBD-285A-40D0-ABA1-E4D8FAD69F9B}" dt="2026-09-04T02:54:44.347" v="1758"/>
          <ac:spMkLst>
            <pc:docMk/>
            <pc:sldMk cId="3136990422" sldId="334"/>
            <ac:spMk id="2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2FF0C-33C8-F9A4-F9AA-B385CCF96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8E482-1DAA-5EA2-AA28-2EEB1F20C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799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Third conversation. They know the platform. This responds to their brief.</a:t>
            </a:r>
          </a:p>
          <a:p>
            <a:r>
              <a:t>Say early and plainly: the scenario is a composite built from what they described, not a real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682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the whole deck hangs on. Say it slowly.</a:t>
            </a:r>
          </a:p>
          <a:p>
            <a:r>
              <a:t>The actual resolution — check another warehouse, confirm a payment cleared, pick a different carrier — takes minutes once the right person has the right context.</a:t>
            </a:r>
          </a:p>
          <a:p>
            <a:r>
              <a:t>That gap between how long it takes and how long the WORK takes is the 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pre-empts the hostile question. If 'why don't they just fix it' has an obvious answer, the problem was not worth a demo.</a:t>
            </a:r>
          </a:p>
          <a:p>
            <a:r>
              <a:t>The shape: exception information has to reach several consumers, at different speeds, with different reliability needs, without the producer knowing who they are.</a:t>
            </a:r>
          </a:p>
          <a:p>
            <a:r>
              <a:t>THAT is a messaging problem — and saying so here is earned, not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slide is what makes the rest defensible. It converts 'here is a clever architecture' into 'here is your requirement, addressed'.</a:t>
            </a:r>
          </a:p>
          <a:p>
            <a:r>
              <a:rPr dirty="0"/>
              <a:t>Every later section opens by naming the requirement it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Holding frame. The terminal is the artefact.</a:t>
            </a:r>
          </a:p>
          <a:p>
            <a:r>
              <a:rPr dirty="0"/>
              <a:t>Beat 1 (2m) normal flow, two delivery modes — R1</a:t>
            </a:r>
          </a:p>
          <a:p>
            <a:r>
              <a:rPr dirty="0"/>
              <a:t>Beat 2 (2.5m) order-scoped vs line-scoped, side by side — R4</a:t>
            </a:r>
          </a:p>
          <a:p>
            <a:r>
              <a:rPr dirty="0"/>
              <a:t>Beat 3 (2.5m) stop a desk, publish, restart, nothing lost — R3</a:t>
            </a:r>
          </a:p>
          <a:p>
            <a:r>
              <a:rPr dirty="0"/>
              <a:t>Beat 4 (3m) poison message into the DMQ — R3</a:t>
            </a:r>
          </a:p>
          <a:p>
            <a:r>
              <a:rPr dirty="0"/>
              <a:t>Call the requirement number as each beat starts. Keeps it tethered to the brief.</a:t>
            </a:r>
          </a:p>
          <a:p>
            <a:r>
              <a:rPr dirty="0"/>
              <a:t>If running long, cut Beat 3. NEVER cut Beat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this BEFORE the topic hierarchy, not during it.</a:t>
            </a:r>
          </a:p>
          <a:p>
            <a:r>
              <a:t>Four exception types are modelled. Two are carried live, and they were chosen because their scope differs.</a:t>
            </a:r>
          </a:p>
          <a:p>
            <a:r>
              <a:t>Credit hold is a fact about an order. Stock shortfall is a fact about a line — the resolution is substitute THIS item, split-ship THIS item, backorder THIS item.</a:t>
            </a:r>
          </a:p>
          <a:p>
            <a:r>
              <a:t>That is the entire reason two Object-types exist on the next slide. Establish it here and the next slide explains itself.</a:t>
            </a:r>
          </a:p>
          <a:p>
            <a:r>
              <a:t>Origin: Emerson, 2026-08-26 — 'is this the whole order or part of the order? That will change the topic taxonomy.'</a:t>
            </a:r>
          </a:p>
          <a:p>
            <a:r>
              <a:t>If pushed on carrier-rejected: order-scoped today; it becomes shipment-scoped when the shipment Object-type is added. Volunteer that rather than defend it.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Governing rule, from your own guidance: a level serves routing or ACL, or it has no justification and becomes noise.</a:t>
            </a:r>
          </a:p>
          <a:p>
            <a:r>
              <a:t>Lead with what was CUT. Removing levels is more persuasive than keeping them.</a:t>
            </a:r>
          </a:p>
          <a:p>
            <a:r>
              <a:t>Weakest level, volunteered before they find it: ObjectId. It serves only the rare order-scoped UI subscription. It stays for per-entity subscription without payload inspection, and because it is your own trailing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alternatives force one guarantee across everything: pay spool cost for dashboard chatter, or accept loss on business events.</a:t>
            </a:r>
          </a:p>
          <a:p>
            <a:r>
              <a:t>The demo actually does this — two publishers on one connection. Output is tagged [direct] and [guaranteed] so you can point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R6 is the requirement that justifies the version level, which is otherwise the hardest one to defend. Say the connection explicitly.</a:t>
            </a:r>
          </a:p>
          <a:p>
            <a:r>
              <a:rPr dirty="0"/>
              <a:t>Depth answer if pushed on replay: it works only on non-partitioned queues, which is why these are not partitioned. At real throughput you would partition the service queues and keep the audit queue non-partitioned so replay survives where it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Holding frame. The terminal is the artefact.</a:t>
            </a:r>
          </a:p>
          <a:p>
            <a:r>
              <a:rPr dirty="0"/>
              <a:t>Beat 1 (2m) normal flow, two delivery modes — R1</a:t>
            </a:r>
          </a:p>
          <a:p>
            <a:r>
              <a:rPr dirty="0"/>
              <a:t>Beat 2 (2.5m) order-scoped vs line-scoped, side by side — R4</a:t>
            </a:r>
          </a:p>
          <a:p>
            <a:r>
              <a:rPr dirty="0"/>
              <a:t>Beat 3 (2.5m) stop a desk, publish, restart, nothing lost — R3</a:t>
            </a:r>
          </a:p>
          <a:p>
            <a:r>
              <a:rPr dirty="0"/>
              <a:t>Beat 4 (3m) poison message into the DMQ — R3</a:t>
            </a:r>
          </a:p>
          <a:p>
            <a:r>
              <a:rPr dirty="0"/>
              <a:t>Call the requirement number as each beat starts. Keeps it tethered to the brief.</a:t>
            </a:r>
          </a:p>
          <a:p>
            <a:r>
              <a:rPr dirty="0"/>
              <a:t>If running long, cut Beat 3. NEVER cut Beat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Opens on R5 so the agentic tier arrives as the answer to something they asked for, not as technology being pushed.</a:t>
            </a:r>
          </a:p>
          <a:p>
            <a:r>
              <a:t>THE argument: why Solace and not a lightweight agent framework. Most frameworks wire agents together with synchronous HTTP tool calls. Put A2A on the broker and you get decoupling, durability, back-pressure and replay from infrastructure the enterprise already trusts.</a:t>
            </a:r>
          </a:p>
          <a:p>
            <a:r>
              <a:t>LIVE IF READY. If not, walk the architecture and say plainly that it is the tier still in build — announced in advance, agreed with Emerson.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 over cleanly. Do not summarise — the room wants its turn.</a:t>
            </a:r>
          </a:p>
          <a:p>
            <a:r>
              <a:t>Appendix slides are held for: the published topic example, rejected alternatives, at-least-once and dedupe, replay and partitioning, the three silent-configuration findings, and how AI tooling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Deploy only when asked. Having them and not needing them is the right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04850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Emerson asked for exactly this: put the nuances you found IN the presentation. Why were they nuanced, why differentiators, how did they change the solution.</a:t>
            </a:r>
          </a:p>
          <a:p>
            <a:r>
              <a:t>This is also the honest answer to 'how did you use AI tools' — the tools generated a generic taxonomy; the corrections came from reading the docs and building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93B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E2A3E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 dirty="0">
                <a:solidFill>
                  <a:srgbClr val="00C895"/>
                </a:solidFill>
                <a:latin typeface="Segoe UI"/>
              </a:rPr>
              <a:t>MERIDIAN COMPONENTS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 dirty="0">
                <a:solidFill>
                  <a:srgbClr val="FFFFFF"/>
                </a:solidFill>
                <a:latin typeface="Segoe UI"/>
              </a:rPr>
              <a:t>Real-time order exception handling</a:t>
            </a:r>
          </a:p>
          <a:p>
            <a:pPr algn="l">
              <a:spcBef>
                <a:spcPts val="0"/>
              </a:spcBef>
              <a:spcAft>
                <a:spcPts val="3000"/>
              </a:spcAft>
            </a:pPr>
            <a:r>
              <a:rPr sz="2200" b="0" i="0" dirty="0">
                <a:solidFill>
                  <a:srgbClr val="AFBAC4"/>
                </a:solidFill>
                <a:latin typeface="Segoe UI"/>
              </a:rPr>
              <a:t>Custom demonstration on the Solace platform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8A96A2"/>
                </a:solidFill>
                <a:latin typeface="Segoe UI"/>
              </a:rPr>
              <a:t>Tony August    |    4 September 2026</a:t>
            </a:r>
          </a:p>
        </p:txBody>
      </p:sp>
      <p:sp>
        <p:nvSpPr>
          <p:cNvPr id="4" name="SolaceWordmark">
            <a:extLst>
              <a:ext uri="{FF2B5EF4-FFF2-40B4-BE49-F238E27FC236}">
                <a16:creationId xmlns:a16="http://schemas.microsoft.com/office/drawing/2014/main" id="{2007ACF7-C53F-4847-8E19-EF2D41EC2AB4}"/>
              </a:ext>
            </a:extLst>
          </p:cNvPr>
          <p:cNvSpPr txBox="1"/>
          <p:nvPr/>
        </p:nvSpPr>
        <p:spPr>
          <a:xfrm>
            <a:off x="1005840" y="5969000"/>
            <a:ext cx="1651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Segoe UI"/>
                <a:cs typeface="Segoe UI"/>
              </a:rPr>
              <a:t>solace</a:t>
            </a:r>
          </a:p>
        </p:txBody>
      </p:sp>
      <p:sp>
        <p:nvSpPr>
          <p:cNvPr id="5" name="SolaceAccentBar">
            <a:extLst>
              <a:ext uri="{FF2B5EF4-FFF2-40B4-BE49-F238E27FC236}">
                <a16:creationId xmlns:a16="http://schemas.microsoft.com/office/drawing/2014/main" id="{6112A054-CFC0-4074-8398-4CCC608AD6FA}"/>
              </a:ext>
            </a:extLst>
          </p:cNvPr>
          <p:cNvSpPr/>
          <p:nvPr/>
        </p:nvSpPr>
        <p:spPr>
          <a:xfrm>
            <a:off x="1005840" y="5867400"/>
            <a:ext cx="381000" cy="50800"/>
          </a:xfrm>
          <a:prstGeom prst="rect">
            <a:avLst/>
          </a:prstGeom>
          <a:solidFill>
            <a:srgbClr val="00C89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4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E1F47D-C6D0-41B5-BC50-612A73ED8C23}"/>
              </a:ext>
            </a:extLst>
          </p:cNvPr>
          <p:cNvSpPr/>
          <p:nvPr/>
        </p:nvSpPr>
        <p:spPr>
          <a:xfrm>
            <a:off x="635000" y="571500"/>
            <a:ext cx="381000" cy="76200"/>
          </a:xfrm>
          <a:prstGeom prst="rect">
            <a:avLst/>
          </a:prstGeom>
          <a:solidFill>
            <a:srgbClr val="00C895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1A139-49D9-4699-9E06-C9E55E0A4B05}"/>
              </a:ext>
            </a:extLst>
          </p:cNvPr>
          <p:cNvSpPr txBox="1"/>
          <p:nvPr/>
        </p:nvSpPr>
        <p:spPr>
          <a:xfrm>
            <a:off x="635000" y="711200"/>
            <a:ext cx="5842000" cy="2540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25875-4B8C-4D53-9C91-C8971D835F25}"/>
              </a:ext>
            </a:extLst>
          </p:cNvPr>
          <p:cNvSpPr txBox="1"/>
          <p:nvPr/>
        </p:nvSpPr>
        <p:spPr>
          <a:xfrm>
            <a:off x="635000" y="1003300"/>
            <a:ext cx="5842000" cy="5842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What we'll cover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43E91-2410-4466-B856-940F651EFB25}"/>
              </a:ext>
            </a:extLst>
          </p:cNvPr>
          <p:cNvSpPr txBox="1"/>
          <p:nvPr/>
        </p:nvSpPr>
        <p:spPr>
          <a:xfrm>
            <a:off x="635000" y="1778000"/>
            <a:ext cx="5842000" cy="3302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A9BECD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About forty minutes of material, then time for your questions.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3B828-380F-4A80-A317-C6BC9D8B48BA}"/>
              </a:ext>
            </a:extLst>
          </p:cNvPr>
          <p:cNvSpPr/>
          <p:nvPr/>
        </p:nvSpPr>
        <p:spPr>
          <a:xfrm flipV="1">
            <a:off x="1016000" y="23495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70108-6D5C-4F00-AE99-5270751A7676}"/>
              </a:ext>
            </a:extLst>
          </p:cNvPr>
          <p:cNvSpPr txBox="1"/>
          <p:nvPr/>
        </p:nvSpPr>
        <p:spPr>
          <a:xfrm>
            <a:off x="1016000" y="2565400"/>
            <a:ext cx="508000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ADECF-01D5-4E38-AE26-C209C91DFF53}"/>
              </a:ext>
            </a:extLst>
          </p:cNvPr>
          <p:cNvSpPr txBox="1"/>
          <p:nvPr/>
        </p:nvSpPr>
        <p:spPr>
          <a:xfrm>
            <a:off x="1947582" y="2588560"/>
            <a:ext cx="4719918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Current Situation (Recap)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6260B-40E1-4EDC-B499-ACF85331E66C}"/>
              </a:ext>
            </a:extLst>
          </p:cNvPr>
          <p:cNvSpPr/>
          <p:nvPr/>
        </p:nvSpPr>
        <p:spPr>
          <a:xfrm flipV="1">
            <a:off x="1016000" y="31369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143B8-3583-40F0-8C58-BCEB02099867}"/>
              </a:ext>
            </a:extLst>
          </p:cNvPr>
          <p:cNvSpPr txBox="1"/>
          <p:nvPr/>
        </p:nvSpPr>
        <p:spPr>
          <a:xfrm>
            <a:off x="1016000" y="3352800"/>
            <a:ext cx="508000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E3EB0-B7A0-47F0-A6A3-910A5B0D9883}"/>
              </a:ext>
            </a:extLst>
          </p:cNvPr>
          <p:cNvSpPr/>
          <p:nvPr/>
        </p:nvSpPr>
        <p:spPr>
          <a:xfrm flipV="1">
            <a:off x="1016000" y="39243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AC667-CC97-4E96-BF98-A5B8789132E0}"/>
              </a:ext>
            </a:extLst>
          </p:cNvPr>
          <p:cNvSpPr txBox="1"/>
          <p:nvPr/>
        </p:nvSpPr>
        <p:spPr>
          <a:xfrm>
            <a:off x="1016000" y="4140200"/>
            <a:ext cx="508000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4765A-CB9C-46F6-8973-800AFED839EA}"/>
              </a:ext>
            </a:extLst>
          </p:cNvPr>
          <p:cNvSpPr txBox="1"/>
          <p:nvPr/>
        </p:nvSpPr>
        <p:spPr>
          <a:xfrm>
            <a:off x="1947582" y="4163360"/>
            <a:ext cx="4719918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Solution 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96178-C3B9-4F82-A260-D44B8F78232E}"/>
              </a:ext>
            </a:extLst>
          </p:cNvPr>
          <p:cNvSpPr/>
          <p:nvPr/>
        </p:nvSpPr>
        <p:spPr>
          <a:xfrm flipV="1">
            <a:off x="1016000" y="47117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E3D726-09B3-4AB0-9742-7F41F60B8BC5}"/>
              </a:ext>
            </a:extLst>
          </p:cNvPr>
          <p:cNvSpPr txBox="1"/>
          <p:nvPr/>
        </p:nvSpPr>
        <p:spPr>
          <a:xfrm>
            <a:off x="1016000" y="4927600"/>
            <a:ext cx="508000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9438C-B1F6-4B6B-99BB-93E07F16BFD1}"/>
              </a:ext>
            </a:extLst>
          </p:cNvPr>
          <p:cNvSpPr txBox="1"/>
          <p:nvPr/>
        </p:nvSpPr>
        <p:spPr>
          <a:xfrm>
            <a:off x="1947582" y="4950760"/>
            <a:ext cx="4719918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Demo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092B33-D088-44AB-9118-C3D74180D6B1}"/>
              </a:ext>
            </a:extLst>
          </p:cNvPr>
          <p:cNvSpPr/>
          <p:nvPr/>
        </p:nvSpPr>
        <p:spPr>
          <a:xfrm flipV="1">
            <a:off x="1016000" y="54991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1FA08-113C-4AB8-BC2B-1951AB0ABB1A}"/>
              </a:ext>
            </a:extLst>
          </p:cNvPr>
          <p:cNvSpPr txBox="1"/>
          <p:nvPr/>
        </p:nvSpPr>
        <p:spPr>
          <a:xfrm>
            <a:off x="1016000" y="5715000"/>
            <a:ext cx="508000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895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9FAB3-970F-4969-92B4-D1893F3DBD3E}"/>
              </a:ext>
            </a:extLst>
          </p:cNvPr>
          <p:cNvSpPr txBox="1"/>
          <p:nvPr/>
        </p:nvSpPr>
        <p:spPr>
          <a:xfrm>
            <a:off x="1947582" y="5738160"/>
            <a:ext cx="4719918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Questions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D5255A-2E82-4F77-8B66-FC83484F57D4}"/>
              </a:ext>
            </a:extLst>
          </p:cNvPr>
          <p:cNvSpPr/>
          <p:nvPr/>
        </p:nvSpPr>
        <p:spPr>
          <a:xfrm flipV="1">
            <a:off x="1016000" y="6286500"/>
            <a:ext cx="5008282" cy="9144"/>
          </a:xfrm>
          <a:prstGeom prst="rect">
            <a:avLst/>
          </a:prstGeom>
          <a:solidFill>
            <a:srgbClr val="0D4066"/>
          </a:solidFill>
          <a:ln w="9525" cap="flat" cmpd="sng" algn="ctr">
            <a:noFill/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Picture 6" descr="Assistenza Informatica Padova">
            <a:extLst>
              <a:ext uri="{FF2B5EF4-FFF2-40B4-BE49-F238E27FC236}">
                <a16:creationId xmlns:a16="http://schemas.microsoft.com/office/drawing/2014/main" id="{AD2A1EE6-5BE2-533B-0611-459256C0D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"/>
          <a:stretch>
            <a:fillRect/>
          </a:stretch>
        </p:blipFill>
        <p:spPr bwMode="auto">
          <a:xfrm>
            <a:off x="6731000" y="0"/>
            <a:ext cx="8270634" cy="68580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2" name="PhotoScrim">
            <a:extLst>
              <a:ext uri="{FF2B5EF4-FFF2-40B4-BE49-F238E27FC236}">
                <a16:creationId xmlns:a16="http://schemas.microsoft.com/office/drawing/2014/main" id="{7F19A9B6-93C6-49FD-898F-7ABDCA81D275}"/>
              </a:ext>
            </a:extLst>
          </p:cNvPr>
          <p:cNvSpPr/>
          <p:nvPr/>
        </p:nvSpPr>
        <p:spPr>
          <a:xfrm>
            <a:off x="6604000" y="0"/>
            <a:ext cx="5588000" cy="6858000"/>
          </a:xfrm>
          <a:prstGeom prst="rect">
            <a:avLst/>
          </a:prstGeom>
          <a:gradFill>
            <a:gsLst>
              <a:gs pos="0">
                <a:srgbClr val="062A44">
                  <a:alpha val="100000"/>
                </a:srgbClr>
              </a:gs>
              <a:gs pos="100000">
                <a:srgbClr val="062A44">
                  <a:alpha val="0"/>
                </a:srgbClr>
              </a:gs>
            </a:gsLst>
            <a:lin ang="0" scaled="0"/>
          </a:gradFill>
          <a:ln w="9525" cap="flat" cmpd="sng" algn="ctr">
            <a:prstDash val="solid"/>
          </a:ln>
          <a:effectLst/>
        </p:spPr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E6AF50-F20A-4AB9-A02C-0996D2DC2BDB}"/>
              </a:ext>
            </a:extLst>
          </p:cNvPr>
          <p:cNvSpPr txBox="1"/>
          <p:nvPr/>
        </p:nvSpPr>
        <p:spPr>
          <a:xfrm>
            <a:off x="11366500" y="6400800"/>
            <a:ext cx="5461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C9D6E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23DCC-2AFE-40C2-AD96-576EE1B1AFFA}"/>
              </a:ext>
            </a:extLst>
          </p:cNvPr>
          <p:cNvSpPr txBox="1"/>
          <p:nvPr/>
        </p:nvSpPr>
        <p:spPr>
          <a:xfrm>
            <a:off x="1947582" y="3371850"/>
            <a:ext cx="4719918" cy="304800"/>
          </a:xfrm>
          <a:prstGeom prst="rect">
            <a:avLst/>
          </a:prstGeom>
          <a:noFill/>
          <a:effectLst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What you asked for</a:t>
            </a:r>
          </a:p>
        </p:txBody>
      </p:sp>
    </p:spTree>
    <p:extLst>
      <p:ext uri="{BB962C8B-B14F-4D97-AF65-F5344CB8AC3E}">
        <p14:creationId xmlns:p14="http://schemas.microsoft.com/office/powerpoint/2010/main" val="300825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5DD7C8-2D64-46EF-BD8F-0621BDA129F7}"/>
              </a:ext>
            </a:extLst>
          </p:cNvPr>
          <p:cNvSpPr/>
          <p:nvPr/>
        </p:nvSpPr>
        <p:spPr>
          <a:xfrm>
            <a:off x="6286500" y="2006600"/>
            <a:ext cx="5054600" cy="3962400"/>
          </a:xfrm>
          <a:prstGeom prst="roundRect">
            <a:avLst/>
          </a:prstGeom>
          <a:solidFill>
            <a:srgbClr val="F1F5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24F8-2343-495F-8BD9-EC0A4891035F}"/>
              </a:ext>
            </a:extLst>
          </p:cNvPr>
          <p:cNvSpPr/>
          <p:nvPr/>
        </p:nvSpPr>
        <p:spPr>
          <a:xfrm>
            <a:off x="825500" y="2006600"/>
            <a:ext cx="5054600" cy="3962400"/>
          </a:xfrm>
          <a:prstGeom prst="roundRect">
            <a:avLst/>
          </a:prstGeom>
          <a:solidFill>
            <a:srgbClr val="F1F5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093B5F"/>
                </a:solidFill>
                <a:latin typeface="Segoe UI"/>
              </a:rPr>
              <a:t>What exceptions cost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0300" y="2260600"/>
            <a:ext cx="444500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i="0" dirty="0">
                <a:latin typeface="Segoe UI"/>
              </a:rPr>
              <a:t>Orders Delayed </a:t>
            </a:r>
            <a:r>
              <a:rPr lang="en-US" sz="2400" b="1" i="0" dirty="0">
                <a:solidFill>
                  <a:srgbClr val="E07B2C"/>
                </a:solidFill>
                <a:latin typeface="Segoe UI"/>
              </a:rPr>
              <a:t>24–36 </a:t>
            </a:r>
            <a:r>
              <a:rPr lang="en-US" sz="2400" b="1" i="0" dirty="0">
                <a:latin typeface="Segoe UI"/>
              </a:rPr>
              <a:t>Hours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 b="0" i="0" dirty="0">
                <a:solidFill>
                  <a:srgbClr val="4C5F70"/>
                </a:solidFill>
                <a:latin typeface="Segoe UI"/>
              </a:rPr>
              <a:t>from exception to resumption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09:15  </a:t>
            </a: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An order breaks: stock short, credit hold, bad address, carrier refusal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23:00  </a:t>
            </a: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The nightly reconciliation job notices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08:00  </a:t>
            </a: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A coordinator opens the report and starts emailing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Next day  </a:t>
            </a: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Replies arrive; corrections are re-keyed by hand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4C5F70"/>
                </a:solidFill>
                <a:latin typeface="Segoe UI"/>
              </a:rPr>
              <a:t>Most of that time is spent waiting to be noticed, not waiting to be solved.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2260600"/>
            <a:ext cx="4445000" cy="267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i="0" dirty="0">
                <a:solidFill>
                  <a:srgbClr val="E07B2C"/>
                </a:solidFill>
                <a:latin typeface="Segoe UI"/>
              </a:rPr>
              <a:t>46 </a:t>
            </a:r>
            <a:r>
              <a:rPr lang="en-US" sz="2400" b="1" i="0" dirty="0">
                <a:latin typeface="Segoe UI"/>
              </a:rPr>
              <a:t>Man-hours/day Expended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 b="0" i="0" dirty="0">
                <a:solidFill>
                  <a:srgbClr val="4C5F70"/>
                </a:solidFill>
                <a:latin typeface="Segoe UI"/>
              </a:rPr>
              <a:t>of pure coordination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2,800 orders a day  ×  4% exception rate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   ≈  110 exceptions a day</a:t>
            </a:r>
          </a:p>
          <a:p>
            <a:pPr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C4356"/>
                </a:solidFill>
                <a:latin typeface="Segoe UI"/>
              </a:rPr>
              <a:t>×  ~25 minutes of coordination each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   ≈  46 hours a day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4C5F70"/>
                </a:solidFill>
                <a:latin typeface="Segoe UI"/>
              </a:rPr>
              <a:t>Roughly six people doing nothing but shepherding broken orders.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197600"/>
            <a:ext cx="38100" cy="43180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" y="6264617"/>
            <a:ext cx="102412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4C5F70"/>
                </a:solidFill>
                <a:latin typeface="Segoe UI"/>
              </a:rPr>
              <a:t>Derived from Meridian numbers.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252A7-021F-1198-B44E-3100DA5EBFDE}"/>
              </a:ext>
            </a:extLst>
          </p:cNvPr>
          <p:cNvCxnSpPr>
            <a:cxnSpLocks/>
          </p:cNvCxnSpPr>
          <p:nvPr/>
        </p:nvCxnSpPr>
        <p:spPr>
          <a:xfrm>
            <a:off x="6702812" y="2973659"/>
            <a:ext cx="4388934" cy="0"/>
          </a:xfrm>
          <a:prstGeom prst="line">
            <a:avLst/>
          </a:prstGeom>
          <a:ln w="9525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387167-49F0-5B69-4A7A-795BB2F14CF6}"/>
              </a:ext>
            </a:extLst>
          </p:cNvPr>
          <p:cNvCxnSpPr>
            <a:cxnSpLocks/>
          </p:cNvCxnSpPr>
          <p:nvPr/>
        </p:nvCxnSpPr>
        <p:spPr>
          <a:xfrm>
            <a:off x="1241812" y="2973659"/>
            <a:ext cx="4388934" cy="0"/>
          </a:xfrm>
          <a:prstGeom prst="line">
            <a:avLst/>
          </a:prstGeom>
          <a:ln w="9525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37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8919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Why the obvious fixes have not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6025896"/>
            <a:ext cx="38100" cy="54864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6102057"/>
            <a:ext cx="102412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500" b="1" i="0" dirty="0">
                <a:solidFill>
                  <a:srgbClr val="4C5F70"/>
                </a:solidFill>
                <a:latin typeface="Segoe UI"/>
              </a:rPr>
              <a:t>Each fix removes one piece. The 24–36 hour delay and the 46 hours a day survive all three.</a:t>
            </a:r>
          </a:p>
        </p:txBody>
      </p:sp>
      <p:pic>
        <p:nvPicPr>
          <p:cNvPr id="8" name="Picture 7" descr="square hole round peg">
            <a:extLst>
              <a:ext uri="{FF2B5EF4-FFF2-40B4-BE49-F238E27FC236}">
                <a16:creationId xmlns:a16="http://schemas.microsoft.com/office/drawing/2014/main" id="{236F97E8-E7E6-C643-B8A4-F1EC34D36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2946400"/>
            <a:ext cx="3735728" cy="2291246"/>
          </a:xfrm>
          <a:prstGeom prst="rect">
            <a:avLst/>
          </a:prstGeom>
        </p:spPr>
      </p:pic>
      <p:sp>
        <p:nvSpPr>
          <p:cNvPr id="200" name="Card 0"/>
          <p:cNvSpPr/>
          <p:nvPr/>
        </p:nvSpPr>
        <p:spPr>
          <a:xfrm>
            <a:off x="825500" y="2082800"/>
            <a:ext cx="66040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Bar 0"/>
          <p:cNvSpPr/>
          <p:nvPr/>
        </p:nvSpPr>
        <p:spPr>
          <a:xfrm>
            <a:off x="825500" y="2311400"/>
            <a:ext cx="38100" cy="711200"/>
          </a:xfrm>
          <a:prstGeom prst="rect">
            <a:avLst/>
          </a:prstGeom>
          <a:solidFill>
            <a:srgbClr val="E07B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ardText 0"/>
          <p:cNvSpPr txBox="1"/>
          <p:nvPr/>
        </p:nvSpPr>
        <p:spPr>
          <a:xfrm>
            <a:off x="1104900" y="2273300"/>
            <a:ext cx="60706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800" b="1" i="0" dirty="0">
                <a:solidFill>
                  <a:srgbClr val="093B5F"/>
                </a:solidFill>
                <a:latin typeface="Segoe UI"/>
              </a:rPr>
              <a:t>Run the batch more often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Shortening detection not enough. Adds SAP load in business hours. Does nothing about the email half</a:t>
            </a:r>
          </a:p>
        </p:txBody>
      </p:sp>
      <p:sp>
        <p:nvSpPr>
          <p:cNvPr id="203" name="Card 1"/>
          <p:cNvSpPr/>
          <p:nvPr/>
        </p:nvSpPr>
        <p:spPr>
          <a:xfrm>
            <a:off x="825500" y="3378200"/>
            <a:ext cx="66040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4" name="Bar 1"/>
          <p:cNvSpPr/>
          <p:nvPr/>
        </p:nvSpPr>
        <p:spPr>
          <a:xfrm>
            <a:off x="825500" y="3606800"/>
            <a:ext cx="38100" cy="711200"/>
          </a:xfrm>
          <a:prstGeom prst="rect">
            <a:avLst/>
          </a:prstGeom>
          <a:solidFill>
            <a:srgbClr val="E07B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CardText 1"/>
          <p:cNvSpPr txBox="1"/>
          <p:nvPr/>
        </p:nvSpPr>
        <p:spPr>
          <a:xfrm>
            <a:off x="1104900" y="3568700"/>
            <a:ext cx="60706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800" b="1" i="0" dirty="0">
                <a:solidFill>
                  <a:srgbClr val="093B5F"/>
                </a:solidFill>
                <a:latin typeface="Segoe UI"/>
              </a:rPr>
              <a:t>Add point-to-point interfaces for exceptions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This is what you already did. The cost of the eleventh consumer is what stopped you</a:t>
            </a:r>
          </a:p>
        </p:txBody>
      </p:sp>
      <p:sp>
        <p:nvSpPr>
          <p:cNvPr id="206" name="Card 2"/>
          <p:cNvSpPr/>
          <p:nvPr/>
        </p:nvSpPr>
        <p:spPr>
          <a:xfrm>
            <a:off x="825500" y="4673600"/>
            <a:ext cx="66040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7" name="Bar 2"/>
          <p:cNvSpPr/>
          <p:nvPr/>
        </p:nvSpPr>
        <p:spPr>
          <a:xfrm>
            <a:off x="825500" y="4902200"/>
            <a:ext cx="38100" cy="711200"/>
          </a:xfrm>
          <a:prstGeom prst="rect">
            <a:avLst/>
          </a:prstGeom>
          <a:solidFill>
            <a:srgbClr val="E07B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CardText 2"/>
          <p:cNvSpPr txBox="1"/>
          <p:nvPr/>
        </p:nvSpPr>
        <p:spPr>
          <a:xfrm>
            <a:off x="1104900" y="4864100"/>
            <a:ext cx="60706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800" b="1" i="0" dirty="0">
                <a:solidFill>
                  <a:srgbClr val="093B5F"/>
                </a:solidFill>
                <a:latin typeface="Segoe UI"/>
              </a:rPr>
              <a:t>Buy a workflow tool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Routes the work. Does not shorten detection, and does not bring the context with it</a:t>
            </a:r>
          </a:p>
        </p:txBody>
      </p:sp>
    </p:spTree>
    <p:extLst>
      <p:ext uri="{BB962C8B-B14F-4D97-AF65-F5344CB8AC3E}">
        <p14:creationId xmlns:p14="http://schemas.microsoft.com/office/powerpoint/2010/main" val="69842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785A"/>
                </a:solidFill>
                <a:latin typeface="Segoe UI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What you asked us to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qCard 0"/>
          <p:cNvSpPr/>
          <p:nvPr/>
        </p:nvSpPr>
        <p:spPr>
          <a:xfrm>
            <a:off x="825500" y="21844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ReqText 0"/>
          <p:cNvSpPr txBox="1"/>
          <p:nvPr/>
        </p:nvSpPr>
        <p:spPr>
          <a:xfrm>
            <a:off x="1079500" y="23749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R1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Know it when it happens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Realtime notification, not a batch report</a:t>
            </a:r>
          </a:p>
        </p:txBody>
      </p:sp>
      <p:sp>
        <p:nvSpPr>
          <p:cNvPr id="202" name="ReqCard 1"/>
          <p:cNvSpPr/>
          <p:nvPr/>
        </p:nvSpPr>
        <p:spPr>
          <a:xfrm>
            <a:off x="6184900" y="21844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3" name="ReqText 1"/>
          <p:cNvSpPr txBox="1"/>
          <p:nvPr/>
        </p:nvSpPr>
        <p:spPr>
          <a:xfrm>
            <a:off x="6438900" y="23749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R2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Add/Remove a consumer without re-architecting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Eliminate overhead of point-to-point interfaces</a:t>
            </a:r>
          </a:p>
        </p:txBody>
      </p:sp>
      <p:sp>
        <p:nvSpPr>
          <p:cNvPr id="204" name="ReqCard 2"/>
          <p:cNvSpPr/>
          <p:nvPr/>
        </p:nvSpPr>
        <p:spPr>
          <a:xfrm>
            <a:off x="825500" y="35052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5" name="ReqText 2"/>
          <p:cNvSpPr txBox="1"/>
          <p:nvPr/>
        </p:nvSpPr>
        <p:spPr>
          <a:xfrm>
            <a:off x="1079500" y="36957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R3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Nothing lost when a system is down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Ability to recover from down times, not skip the window</a:t>
            </a:r>
          </a:p>
        </p:txBody>
      </p:sp>
      <p:sp>
        <p:nvSpPr>
          <p:cNvPr id="206" name="ReqCard 3"/>
          <p:cNvSpPr/>
          <p:nvPr/>
        </p:nvSpPr>
        <p:spPr>
          <a:xfrm>
            <a:off x="6184900" y="35052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7" name="ReqText 3"/>
          <p:cNvSpPr txBox="1"/>
          <p:nvPr/>
        </p:nvSpPr>
        <p:spPr>
          <a:xfrm>
            <a:off x="6438900" y="36957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R4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Context travels with the exception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Whoever picks it up should not have to go hunting</a:t>
            </a:r>
          </a:p>
        </p:txBody>
      </p:sp>
      <p:sp>
        <p:nvSpPr>
          <p:cNvPr id="208" name="ReqCard 4"/>
          <p:cNvSpPr/>
          <p:nvPr/>
        </p:nvSpPr>
        <p:spPr>
          <a:xfrm>
            <a:off x="825500" y="48260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9" name="ReqText 4"/>
          <p:cNvSpPr txBox="1"/>
          <p:nvPr/>
        </p:nvSpPr>
        <p:spPr>
          <a:xfrm>
            <a:off x="1079500" y="50165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R5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Human escalation is deliberate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Last resort only. Narrow requests surfaced with relevant context</a:t>
            </a:r>
          </a:p>
        </p:txBody>
      </p:sp>
      <p:sp>
        <p:nvSpPr>
          <p:cNvPr id="210" name="ReqCard 5"/>
          <p:cNvSpPr/>
          <p:nvPr/>
        </p:nvSpPr>
        <p:spPr>
          <a:xfrm>
            <a:off x="6184900" y="4826000"/>
            <a:ext cx="5156200" cy="1168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11" name="ReqText 5"/>
          <p:cNvSpPr txBox="1"/>
          <p:nvPr/>
        </p:nvSpPr>
        <p:spPr>
          <a:xfrm>
            <a:off x="6438900" y="5016500"/>
            <a:ext cx="4648200" cy="78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0785A"/>
                </a:solidFill>
                <a:latin typeface="Segoe UI"/>
              </a:rPr>
              <a:t>R6 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Incremental adoption strategy</a:t>
            </a:r>
          </a:p>
          <a:p>
            <a:pPr algn="l"/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So the org can throttle and distribute the risk of change</a:t>
            </a:r>
          </a:p>
        </p:txBody>
      </p:sp>
    </p:spTree>
    <p:extLst>
      <p:ext uri="{BB962C8B-B14F-4D97-AF65-F5344CB8AC3E}">
        <p14:creationId xmlns:p14="http://schemas.microsoft.com/office/powerpoint/2010/main" val="406142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00C895"/>
                </a:solidFill>
              </a:rPr>
              <a:t>MERIDIAN COMPONENTS</a:t>
            </a:r>
            <a:r>
              <a:rPr lang="en-US" sz="1400" b="1" i="0" dirty="0">
                <a:solidFill>
                  <a:srgbClr val="00C895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4000" b="1" i="0" dirty="0">
                <a:solidFill>
                  <a:srgbClr val="FFFFFF"/>
                </a:solidFill>
                <a:latin typeface="Segoe UI"/>
              </a:rPr>
              <a:t>Solution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0" i="0" dirty="0">
                <a:solidFill>
                  <a:srgbClr val="AFBAC4"/>
                </a:solidFill>
                <a:latin typeface="Segoe UI"/>
              </a:rPr>
              <a:t>What we build next, and why each piece is there</a:t>
            </a:r>
          </a:p>
        </p:txBody>
      </p:sp>
    </p:spTree>
    <p:extLst>
      <p:ext uri="{BB962C8B-B14F-4D97-AF65-F5344CB8AC3E}">
        <p14:creationId xmlns:p14="http://schemas.microsoft.com/office/powerpoint/2010/main" val="371994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785A"/>
                </a:solidFill>
                <a:latin typeface="Segoe UI"/>
              </a:rPr>
              <a:t>ARCHITECTURE WITH SOLACE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What breaks, and at what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1FF8C9-B89A-4632-B46D-C4458D210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677766"/>
              </p:ext>
            </p:extLst>
          </p:nvPr>
        </p:nvGraphicFramePr>
        <p:xfrm>
          <a:off x="825500" y="2184400"/>
          <a:ext cx="105156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45867275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40774624"/>
                    </a:ext>
                  </a:extLst>
                </a:gridCol>
                <a:gridCol w="6642100">
                  <a:extLst>
                    <a:ext uri="{9D8B030D-6E8A-4147-A177-3AD203B41FA5}">
                      <a16:colId xmlns:a16="http://schemas.microsoft.com/office/drawing/2014/main" val="86253077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Exception type</a:t>
                      </a:r>
                    </a:p>
                  </a:txBody>
                  <a:tcPr marL="101600" marR="101600" marT="76200" marB="76200" anchor="ctr">
                    <a:solidFill>
                      <a:srgbClr val="093B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Scope</a:t>
                      </a:r>
                    </a:p>
                  </a:txBody>
                  <a:tcPr marL="101600" marR="101600" marT="76200" marB="76200" anchor="ctr">
                    <a:solidFill>
                      <a:srgbClr val="093B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What it means</a:t>
                      </a:r>
                    </a:p>
                  </a:txBody>
                  <a:tcPr marL="101600" marR="101600" marT="76200" marB="76200" anchor="ctr">
                    <a:solidFill>
                      <a:srgbClr val="093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33488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2100" b="1">
                          <a:solidFill>
                            <a:srgbClr val="093B5F"/>
                          </a:solidFill>
                          <a:latin typeface="Segoe UI"/>
                          <a:cs typeface="Segoe UI"/>
                        </a:rPr>
                        <a:t>credit-hold*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85A"/>
                          </a:solidFill>
                          <a:latin typeface="Segoe UI"/>
                          <a:cs typeface="Segoe UI"/>
                        </a:rPr>
                        <a:t>Order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C4356"/>
                          </a:solidFill>
                          <a:latin typeface="Segoe UI"/>
                          <a:cs typeface="Segoe UI"/>
                        </a:rPr>
                        <a:t>Customer has not established credit or is over their credit limit.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4603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093B5F"/>
                          </a:solidFill>
                          <a:latin typeface="Segoe UI"/>
                          <a:cs typeface="Segoe UI"/>
                        </a:rPr>
                        <a:t>stock-shortfall*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85A"/>
                          </a:solidFill>
                          <a:latin typeface="Segoe UI"/>
                          <a:cs typeface="Segoe UI"/>
                        </a:rPr>
                        <a:t>Line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C4356"/>
                          </a:solidFill>
                          <a:latin typeface="Segoe UI"/>
                          <a:cs typeface="Segoe UI"/>
                        </a:rPr>
                        <a:t>Not enough stock to fill an item. Substitute, split-ship or backorder is a per-item call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7142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2100" b="1">
                          <a:solidFill>
                            <a:srgbClr val="093B5F"/>
                          </a:solidFill>
                          <a:latin typeface="Segoe UI"/>
                          <a:cs typeface="Segoe UI"/>
                        </a:rPr>
                        <a:t>carrier-rejected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85A"/>
                          </a:solidFill>
                          <a:latin typeface="Segoe UI"/>
                          <a:cs typeface="Segoe UI"/>
                        </a:rPr>
                        <a:t>Line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C4356"/>
                          </a:solidFill>
                          <a:latin typeface="Segoe UI"/>
                          <a:cs typeface="Segoe UI"/>
                        </a:rPr>
                        <a:t>Carrier refuses items because of safety concerns or otherwise unable to meet item’s shipping requirements.</a:t>
                      </a:r>
                    </a:p>
                  </a:txBody>
                  <a:tcPr marL="101600" marR="1016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64301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2100" b="1">
                          <a:solidFill>
                            <a:srgbClr val="093B5F"/>
                          </a:solidFill>
                          <a:latin typeface="Segoe UI"/>
                          <a:cs typeface="Segoe UI"/>
                        </a:rPr>
                        <a:t>address-invalid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85A"/>
                          </a:solidFill>
                          <a:latin typeface="Segoe UI"/>
                          <a:cs typeface="Segoe UI"/>
                        </a:rPr>
                        <a:t>Order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C4356"/>
                          </a:solidFill>
                          <a:latin typeface="Segoe UI"/>
                          <a:cs typeface="Segoe UI"/>
                        </a:rPr>
                        <a:t>Delivery address fails validation. </a:t>
                      </a:r>
                    </a:p>
                  </a:txBody>
                  <a:tcPr marL="101600" marR="101600" marT="76200" marB="76200" anchor="ctr"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6650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2E31E2-7686-4C2B-AB36-C45C36679678}"/>
              </a:ext>
            </a:extLst>
          </p:cNvPr>
          <p:cNvSpPr txBox="1"/>
          <p:nvPr/>
        </p:nvSpPr>
        <p:spPr>
          <a:xfrm>
            <a:off x="825500" y="5740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0" i="0" dirty="0">
                <a:solidFill>
                  <a:srgbClr val="2C4356"/>
                </a:solidFill>
                <a:latin typeface="Segoe UI"/>
              </a:rPr>
              <a:t>* Live in the demo. carrier-rejected and address-invalid are modelled, not demonstrated.</a:t>
            </a:r>
          </a:p>
        </p:txBody>
      </p:sp>
    </p:spTree>
    <p:extLst>
      <p:ext uri="{BB962C8B-B14F-4D97-AF65-F5344CB8AC3E}">
        <p14:creationId xmlns:p14="http://schemas.microsoft.com/office/powerpoint/2010/main" val="424835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ARCHITECTURE WITH SOLACE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Topic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R2</a:t>
            </a:r>
          </a:p>
        </p:txBody>
      </p:sp>
      <p:sp>
        <p:nvSpPr>
          <p:cNvPr id="200" name="Card201"/>
          <p:cNvSpPr/>
          <p:nvPr/>
        </p:nvSpPr>
        <p:spPr>
          <a:xfrm>
            <a:off x="825500" y="2286000"/>
            <a:ext cx="10515600" cy="2006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0300" y="2489200"/>
            <a:ext cx="9906000" cy="17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93B5F"/>
                </a:solidFill>
                <a:latin typeface="Segoe UI"/>
              </a:rPr>
              <a:t>mc / order / exception / v1 / {</a:t>
            </a:r>
            <a:r>
              <a:rPr sz="2200" b="1" i="0" dirty="0" err="1">
                <a:solidFill>
                  <a:srgbClr val="093B5F"/>
                </a:solidFill>
                <a:latin typeface="Segoe UI"/>
              </a:rPr>
              <a:t>exceptionType</a:t>
            </a:r>
            <a:r>
              <a:rPr sz="2200" b="1" i="0" dirty="0">
                <a:solidFill>
                  <a:srgbClr val="093B5F"/>
                </a:solidFill>
                <a:latin typeface="Segoe UI"/>
              </a:rPr>
              <a:t>} / {</a:t>
            </a:r>
            <a:r>
              <a:rPr sz="2200" b="1" i="0" dirty="0" err="1">
                <a:solidFill>
                  <a:srgbClr val="093B5F"/>
                </a:solidFill>
                <a:latin typeface="Segoe UI"/>
              </a:rPr>
              <a:t>orderId</a:t>
            </a:r>
            <a:r>
              <a:rPr sz="2200" b="1" i="0" dirty="0">
                <a:solidFill>
                  <a:srgbClr val="093B5F"/>
                </a:solidFill>
                <a:latin typeface="Segoe UI"/>
              </a:rPr>
              <a:t>}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 dirty="0">
                <a:solidFill>
                  <a:srgbClr val="093B5F"/>
                </a:solidFill>
                <a:latin typeface="Segoe UI"/>
              </a:rPr>
              <a:t>mc / order / exception / v1 / {</a:t>
            </a:r>
            <a:r>
              <a:rPr sz="2200" b="1" i="0" dirty="0" err="1">
                <a:solidFill>
                  <a:srgbClr val="093B5F"/>
                </a:solidFill>
                <a:latin typeface="Segoe UI"/>
              </a:rPr>
              <a:t>exceptionType</a:t>
            </a:r>
            <a:r>
              <a:rPr sz="2200" b="1" i="0" dirty="0">
                <a:solidFill>
                  <a:srgbClr val="093B5F"/>
                </a:solidFill>
                <a:latin typeface="Segoe UI"/>
              </a:rPr>
              <a:t>} / {</a:t>
            </a:r>
            <a:r>
              <a:rPr sz="2200" b="1" i="0" dirty="0" err="1">
                <a:solidFill>
                  <a:srgbClr val="093B5F"/>
                </a:solidFill>
                <a:latin typeface="Segoe UI"/>
              </a:rPr>
              <a:t>orderId</a:t>
            </a:r>
            <a:r>
              <a:rPr sz="2200" b="1" i="0" dirty="0">
                <a:solidFill>
                  <a:srgbClr val="093B5F"/>
                </a:solidFill>
                <a:latin typeface="Segoe UI"/>
              </a:rPr>
              <a:t>} / {</a:t>
            </a:r>
            <a:r>
              <a:rPr sz="2200" b="1" i="0" dirty="0" err="1">
                <a:solidFill>
                  <a:srgbClr val="093B5F"/>
                </a:solidFill>
                <a:latin typeface="Segoe UI"/>
              </a:rPr>
              <a:t>lineId</a:t>
            </a:r>
            <a:r>
              <a:rPr sz="2200" b="1" i="0" dirty="0">
                <a:solidFill>
                  <a:srgbClr val="093B5F"/>
                </a:solidFill>
                <a:latin typeface="Segoe UI"/>
              </a:rPr>
              <a:t>}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 dirty="0">
                <a:solidFill>
                  <a:srgbClr val="96A3B0"/>
                </a:solidFill>
                <a:latin typeface="Segoe UI"/>
              </a:rPr>
              <a:t>mc / order / {verb} / v1 / {orderId}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 dirty="0">
                <a:solidFill>
                  <a:srgbClr val="4C5F70"/>
                </a:solidFill>
                <a:latin typeface="Segoe UI"/>
              </a:rPr>
              <a:t>Domain / Object-type / Verb / Version,  then properties least specific to most</a:t>
            </a:r>
          </a:p>
        </p:txBody>
      </p:sp>
      <p:sp>
        <p:nvSpPr>
          <p:cNvPr id="201" name="Card202"/>
          <p:cNvSpPr/>
          <p:nvPr/>
        </p:nvSpPr>
        <p:spPr>
          <a:xfrm>
            <a:off x="825500" y="4470400"/>
            <a:ext cx="3365500" cy="1930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2" name="T203"/>
          <p:cNvSpPr txBox="1"/>
          <p:nvPr/>
        </p:nvSpPr>
        <p:spPr>
          <a:xfrm>
            <a:off x="1054100" y="4660900"/>
            <a:ext cx="2908300" cy="157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600" b="1" i="0" dirty="0">
                <a:solidFill>
                  <a:srgbClr val="093B5F"/>
                </a:solidFill>
                <a:latin typeface="Segoe UI"/>
              </a:rPr>
              <a:t>A topic is composed per message, not provisioned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So a new consumer subscribes and nothing upstream changes (R2)</a:t>
            </a:r>
          </a:p>
        </p:txBody>
      </p:sp>
      <p:sp>
        <p:nvSpPr>
          <p:cNvPr id="203" name="Card204"/>
          <p:cNvSpPr/>
          <p:nvPr/>
        </p:nvSpPr>
        <p:spPr>
          <a:xfrm>
            <a:off x="4400550" y="4470400"/>
            <a:ext cx="3365500" cy="1930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4" name="T205"/>
          <p:cNvSpPr txBox="1"/>
          <p:nvPr/>
        </p:nvSpPr>
        <p:spPr>
          <a:xfrm>
            <a:off x="4629150" y="4660900"/>
            <a:ext cx="2908300" cy="157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600" b="1" i="0" dirty="0">
                <a:solidFill>
                  <a:srgbClr val="093B5F"/>
                </a:solidFill>
                <a:latin typeface="Segoe UI"/>
              </a:rPr>
              <a:t>One root; the line id appends when the exception is line-scoped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A credit hold is about an order, a shortfall about a line — one subscription reaches both</a:t>
            </a:r>
          </a:p>
        </p:txBody>
      </p:sp>
      <p:sp>
        <p:nvSpPr>
          <p:cNvPr id="205" name="Card206"/>
          <p:cNvSpPr/>
          <p:nvPr/>
        </p:nvSpPr>
        <p:spPr>
          <a:xfrm>
            <a:off x="7975600" y="4470400"/>
            <a:ext cx="3365500" cy="1930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8204200" y="4660900"/>
            <a:ext cx="2908300" cy="157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600" b="1" i="0" dirty="0">
                <a:solidFill>
                  <a:srgbClr val="093B5F"/>
                </a:solidFill>
                <a:latin typeface="Segoe UI"/>
              </a:rPr>
              <a:t>Every level serves routing or access control, or it is not there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customerTier and locality were both cut on that test</a:t>
            </a:r>
          </a:p>
        </p:txBody>
      </p:sp>
    </p:spTree>
    <p:extLst>
      <p:ext uri="{BB962C8B-B14F-4D97-AF65-F5344CB8AC3E}">
        <p14:creationId xmlns:p14="http://schemas.microsoft.com/office/powerpoint/2010/main" val="313699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ARCHITECTURE WITH SOLACE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93B5F"/>
                </a:solidFill>
                <a:latin typeface="Segoe UI"/>
              </a:rPr>
              <a:t>Two streams, two guarantees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38100" cy="91440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5341209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93B5F"/>
                </a:solidFill>
                <a:latin typeface="Segoe UI"/>
              </a:rPr>
              <a:t>One broker, different guarantees per stream.</a:t>
            </a:r>
          </a:p>
        </p:txBody>
      </p:sp>
      <p:sp>
        <p:nvSpPr>
          <p:cNvPr id="200" name="Card201"/>
          <p:cNvSpPr/>
          <p:nvPr/>
        </p:nvSpPr>
        <p:spPr>
          <a:xfrm>
            <a:off x="825500" y="2413000"/>
            <a:ext cx="3365500" cy="2133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T202"/>
          <p:cNvSpPr txBox="1"/>
          <p:nvPr/>
        </p:nvSpPr>
        <p:spPr>
          <a:xfrm>
            <a:off x="1054100" y="2616200"/>
            <a:ext cx="2908300" cy="177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500" b="0" i="0" dirty="0">
                <a:solidFill>
                  <a:srgbClr val="4C5F70"/>
                </a:solidFill>
                <a:latin typeface="Segoe UI"/>
              </a:rPr>
              <a:t>Order lifecycle</a:t>
            </a:r>
          </a:p>
          <a:p>
            <a:pPr algn="l">
              <a:spcAft>
                <a:spcPts val="500"/>
              </a:spcAft>
            </a:pPr>
            <a:r>
              <a:rPr lang="en-US" sz="2000" b="1" i="0" dirty="0">
                <a:solidFill>
                  <a:srgbClr val="00785A"/>
                </a:solidFill>
                <a:latin typeface="Segoe UI"/>
              </a:rPr>
              <a:t>Direct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Created, allocated, picked, shipped, invoiced. Not spooled, not acknowledged. High volume and informational: a dashboard that misses one refreshes.</a:t>
            </a:r>
          </a:p>
        </p:txBody>
      </p:sp>
      <p:sp>
        <p:nvSpPr>
          <p:cNvPr id="202" name="Card203"/>
          <p:cNvSpPr/>
          <p:nvPr/>
        </p:nvSpPr>
        <p:spPr>
          <a:xfrm>
            <a:off x="4400550" y="2413000"/>
            <a:ext cx="3365500" cy="2133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4629150" y="2616200"/>
            <a:ext cx="2908300" cy="177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500" b="0" i="0" dirty="0">
                <a:solidFill>
                  <a:srgbClr val="4C5F70"/>
                </a:solidFill>
                <a:latin typeface="Segoe UI"/>
              </a:rPr>
              <a:t>Exceptions</a:t>
            </a:r>
          </a:p>
          <a:p>
            <a:pPr algn="l">
              <a:spcAft>
                <a:spcPts val="500"/>
              </a:spcAft>
            </a:pPr>
            <a:r>
              <a:rPr lang="en-US" sz="2000" b="1" i="0" dirty="0">
                <a:solidFill>
                  <a:srgbClr val="00785A"/>
                </a:solidFill>
                <a:latin typeface="Segoe UI"/>
              </a:rPr>
              <a:t>Guaranteed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Spooled by the broker and redelivered until acknowledged. Lose one and an order silently stops. Non-negotiable.</a:t>
            </a:r>
          </a:p>
        </p:txBody>
      </p:sp>
      <p:sp>
        <p:nvSpPr>
          <p:cNvPr id="204" name="Card205"/>
          <p:cNvSpPr/>
          <p:nvPr/>
        </p:nvSpPr>
        <p:spPr>
          <a:xfrm>
            <a:off x="7975600" y="2413000"/>
            <a:ext cx="3365500" cy="2133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8204200" y="2616200"/>
            <a:ext cx="2908300" cy="177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500" b="0" i="0" dirty="0">
                <a:solidFill>
                  <a:srgbClr val="4C5F70"/>
                </a:solidFill>
                <a:latin typeface="Segoe UI"/>
              </a:rPr>
              <a:t>Why not one setting</a:t>
            </a:r>
          </a:p>
          <a:p>
            <a:pPr algn="l">
              <a:spcAft>
                <a:spcPts val="500"/>
              </a:spcAft>
            </a:pPr>
            <a:r>
              <a:rPr lang="en-US" sz="2000" b="1" i="0" dirty="0">
                <a:solidFill>
                  <a:srgbClr val="00785A"/>
                </a:solidFill>
                <a:latin typeface="Segoe UI"/>
              </a:rPr>
              <a:t>Chosen per stream</a:t>
            </a:r>
          </a:p>
          <a:p>
            <a:pPr algn="l">
              <a:spcAft>
                <a:spcPts val="0"/>
              </a:spcAft>
            </a:pPr>
            <a:r>
              <a:rPr lang="en-US" sz="1300" b="0" i="0" dirty="0">
                <a:solidFill>
                  <a:srgbClr val="4C5F70"/>
                </a:solidFill>
                <a:latin typeface="Segoe UI"/>
              </a:rPr>
              <a:t>One guarantee for everything means paying spool cost for dashboard traffic, or accepting loss on business events. Neither is acceptable here.</a:t>
            </a:r>
          </a:p>
        </p:txBody>
      </p:sp>
    </p:spTree>
    <p:extLst>
      <p:ext uri="{BB962C8B-B14F-4D97-AF65-F5344CB8AC3E}">
        <p14:creationId xmlns:p14="http://schemas.microsoft.com/office/powerpoint/2010/main" val="2843641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ARCHITECTURE WITH SOLACE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200" b="1" i="0" dirty="0">
                <a:solidFill>
                  <a:srgbClr val="093B5F"/>
                </a:solidFill>
                <a:latin typeface="Segoe UI"/>
              </a:rPr>
              <a:t>Inherently Hardened</a:t>
            </a:r>
            <a:endParaRPr sz="3200" b="1" i="0" dirty="0">
              <a:solidFill>
                <a:srgbClr val="093B5F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 dirty="0">
                <a:solidFill>
                  <a:srgbClr val="00785A"/>
                </a:solidFill>
                <a:latin typeface="Segoe UI"/>
              </a:rPr>
              <a:t>R6</a:t>
            </a:r>
          </a:p>
        </p:txBody>
      </p:sp>
      <p:sp>
        <p:nvSpPr>
          <p:cNvPr id="200" name="Card201"/>
          <p:cNvSpPr/>
          <p:nvPr/>
        </p:nvSpPr>
        <p:spPr>
          <a:xfrm>
            <a:off x="825500" y="2413000"/>
            <a:ext cx="5156200" cy="1524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T202"/>
          <p:cNvSpPr txBox="1"/>
          <p:nvPr/>
        </p:nvSpPr>
        <p:spPr>
          <a:xfrm>
            <a:off x="1079500" y="2641600"/>
            <a:ext cx="4648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One durable queue per consumer, subscribing to topics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A slow or dead consumer affects nobody else. Adding the one more touches nothing shared</a:t>
            </a:r>
          </a:p>
        </p:txBody>
      </p:sp>
      <p:sp>
        <p:nvSpPr>
          <p:cNvPr id="202" name="Card203"/>
          <p:cNvSpPr/>
          <p:nvPr/>
        </p:nvSpPr>
        <p:spPr>
          <a:xfrm>
            <a:off x="6184900" y="2413000"/>
            <a:ext cx="5156200" cy="1524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6438900" y="2641600"/>
            <a:ext cx="4648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dirty="0">
                <a:solidFill>
                  <a:srgbClr val="093B5F"/>
                </a:solidFill>
                <a:latin typeface="Segoe UI"/>
              </a:rPr>
              <a:t>R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edelivery </a:t>
            </a:r>
            <a:r>
              <a:rPr lang="en-US" sz="1700" b="1" dirty="0">
                <a:solidFill>
                  <a:srgbClr val="093B5F"/>
                </a:solidFill>
                <a:latin typeface="Segoe UI"/>
              </a:rPr>
              <a:t>&amp; </a:t>
            </a: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D</a:t>
            </a:r>
            <a:r>
              <a:rPr lang="en-US" sz="1700" b="1" dirty="0">
                <a:solidFill>
                  <a:srgbClr val="093B5F"/>
                </a:solidFill>
                <a:latin typeface="Segoe UI"/>
              </a:rPr>
              <a:t>ead </a:t>
            </a:r>
            <a:r>
              <a:rPr lang="en-US" sz="1700" b="1">
                <a:solidFill>
                  <a:srgbClr val="093B5F"/>
                </a:solidFill>
                <a:latin typeface="Segoe UI"/>
              </a:rPr>
              <a:t>Message controls</a:t>
            </a:r>
            <a:endParaRPr lang="en-US" sz="1700" b="1" i="0" dirty="0">
              <a:solidFill>
                <a:srgbClr val="093B5F"/>
              </a:solidFill>
              <a:latin typeface="Segoe UI"/>
            </a:endParaRP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A malformed message steps aside instead of blocking the other 109 that day</a:t>
            </a:r>
          </a:p>
        </p:txBody>
      </p:sp>
      <p:sp>
        <p:nvSpPr>
          <p:cNvPr id="204" name="Card205"/>
          <p:cNvSpPr/>
          <p:nvPr/>
        </p:nvSpPr>
        <p:spPr>
          <a:xfrm>
            <a:off x="825500" y="4064000"/>
            <a:ext cx="5156200" cy="1524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1079500" y="4292600"/>
            <a:ext cx="4648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Replay for onboarding and forensics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A new consumer builds its state from the log, not from a database export</a:t>
            </a:r>
          </a:p>
        </p:txBody>
      </p:sp>
      <p:sp>
        <p:nvSpPr>
          <p:cNvPr id="206" name="Card207"/>
          <p:cNvSpPr/>
          <p:nvPr/>
        </p:nvSpPr>
        <p:spPr>
          <a:xfrm>
            <a:off x="6184900" y="4064000"/>
            <a:ext cx="5156200" cy="1524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7" name="T208"/>
          <p:cNvSpPr txBox="1"/>
          <p:nvPr/>
        </p:nvSpPr>
        <p:spPr>
          <a:xfrm>
            <a:off x="6438900" y="4292600"/>
            <a:ext cx="4648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Versioning to manage migrations</a:t>
            </a:r>
            <a:r>
              <a:rPr lang="en-US" sz="1500" b="1" i="0" dirty="0">
                <a:solidFill>
                  <a:srgbClr val="00785A"/>
                </a:solidFill>
                <a:latin typeface="Segoe UI"/>
              </a:rPr>
              <a:t>  (R6)</a:t>
            </a:r>
          </a:p>
          <a:p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Run the batch and the event path in parallel, reconcile, then retire the batch. No cutover</a:t>
            </a:r>
            <a:endParaRPr lang="en-US" sz="1400" dirty="0">
              <a:solidFill>
                <a:srgbClr val="4C5F70"/>
              </a:solidFill>
              <a:latin typeface="Segoe UI"/>
            </a:endParaRPr>
          </a:p>
          <a:p>
            <a:endParaRPr lang="en-US" sz="800" b="1" dirty="0">
              <a:solidFill>
                <a:srgbClr val="4C5F70"/>
              </a:solidFill>
              <a:latin typeface="Segoe UI"/>
            </a:endParaRPr>
          </a:p>
          <a:p>
            <a:pPr lvl="1"/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Topic &gt;&gt; mc / order / exception / </a:t>
            </a:r>
            <a:r>
              <a:rPr lang="en-US" sz="1200" b="1" dirty="0"/>
              <a:t>v1</a:t>
            </a:r>
            <a:r>
              <a:rPr lang="en-US" sz="1200" b="1" dirty="0">
                <a:solidFill>
                  <a:srgbClr val="4C5F70"/>
                </a:solidFill>
              </a:rPr>
              <a:t> </a:t>
            </a:r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/ …</a:t>
            </a:r>
            <a:endParaRPr lang="en-US" sz="1200" b="0" i="0" dirty="0">
              <a:solidFill>
                <a:schemeClr val="bg1">
                  <a:lumMod val="65000"/>
                </a:scheme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8813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00C895"/>
                </a:solidFill>
              </a:rPr>
              <a:t>MERIDIAN COMPONENTS</a:t>
            </a:r>
            <a:endParaRPr sz="1400" b="1" i="0" dirty="0">
              <a:solidFill>
                <a:srgbClr val="00C895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lang="en-US" sz="4000" b="1" i="0" dirty="0">
                <a:solidFill>
                  <a:srgbClr val="FFFFFF"/>
                </a:solidFill>
                <a:latin typeface="Segoe UI"/>
              </a:rPr>
              <a:t>Demo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AFBAC4"/>
                </a:solidFill>
                <a:latin typeface="Segoe UI"/>
              </a:rPr>
              <a:t>What does the </a:t>
            </a:r>
            <a:r>
              <a:rPr lang="en-US" sz="1800" b="0" i="0" dirty="0">
                <a:solidFill>
                  <a:srgbClr val="AFBAC4"/>
                </a:solidFill>
                <a:latin typeface="Segoe UI"/>
              </a:rPr>
              <a:t>Solution look like conceptually</a:t>
            </a:r>
          </a:p>
        </p:txBody>
      </p:sp>
    </p:spTree>
    <p:extLst>
      <p:ext uri="{BB962C8B-B14F-4D97-AF65-F5344CB8AC3E}">
        <p14:creationId xmlns:p14="http://schemas.microsoft.com/office/powerpoint/2010/main" val="260938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AGENT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The last 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05456"/>
            <a:ext cx="105156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4C5F70"/>
                </a:solidFill>
                <a:latin typeface="Segoe UI"/>
              </a:rPr>
              <a:t>R5:  human escalation must be deliberate, and arrive with the work gathered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4978400"/>
            <a:ext cx="38100" cy="91440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700" y="494030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93B5F"/>
                </a:solidFill>
                <a:latin typeface="Segoe UI"/>
              </a:rPr>
              <a:t>Kill an agent mid-workflow: one version replays and finishes. The other loses the request.</a:t>
            </a:r>
          </a:p>
        </p:txBody>
      </p:sp>
      <p:sp>
        <p:nvSpPr>
          <p:cNvPr id="200" name="Card201"/>
          <p:cNvSpPr/>
          <p:nvPr/>
        </p:nvSpPr>
        <p:spPr>
          <a:xfrm>
            <a:off x="825500" y="3073400"/>
            <a:ext cx="5156200" cy="15748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T202"/>
          <p:cNvSpPr txBox="1"/>
          <p:nvPr/>
        </p:nvSpPr>
        <p:spPr>
          <a:xfrm>
            <a:off x="1079500" y="3302000"/>
            <a:ext cx="4648200" cy="1193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Triage, lookup and resolution become agents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The deterministic cases resolve themselves. Judgment calls escalate with context attached</a:t>
            </a:r>
          </a:p>
        </p:txBody>
      </p:sp>
      <p:sp>
        <p:nvSpPr>
          <p:cNvPr id="202" name="Card203"/>
          <p:cNvSpPr/>
          <p:nvPr/>
        </p:nvSpPr>
        <p:spPr>
          <a:xfrm>
            <a:off x="6184900" y="3073400"/>
            <a:ext cx="5156200" cy="15748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6438900" y="3302000"/>
            <a:ext cx="4648200" cy="1193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The agents talk over the broker, not over HTTP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A2A carried on PubSub+ instead of synchronous point-to-point tool calls</a:t>
            </a:r>
          </a:p>
        </p:txBody>
      </p:sp>
    </p:spTree>
    <p:extLst>
      <p:ext uri="{BB962C8B-B14F-4D97-AF65-F5344CB8AC3E}">
        <p14:creationId xmlns:p14="http://schemas.microsoft.com/office/powerpoint/2010/main" val="145305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5A"/>
                </a:solidFill>
                <a:latin typeface="Segoe UI"/>
              </a:rPr>
              <a:t>AGENT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Why the broker, and not point-to-point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566928" cy="274320"/>
          </a:xfrm>
          <a:prstGeom prst="roundRect">
            <a:avLst/>
          </a:prstGeom>
          <a:solidFill>
            <a:srgbClr val="E4F7F0"/>
          </a:solidFill>
          <a:ln w="9525">
            <a:solidFill>
              <a:srgbClr val="007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0785A"/>
                </a:solidFill>
                <a:latin typeface="Segoe U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05456"/>
            <a:ext cx="105156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4C5F70"/>
                </a:solidFill>
                <a:latin typeface="Segoe UI"/>
              </a:rPr>
              <a:t>Same broker as Act 2. A second topic architecture alongside the business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5257800"/>
            <a:ext cx="38100" cy="91440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700" y="521970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93B5F"/>
                </a:solidFill>
                <a:latin typeface="Segoe UI"/>
              </a:rPr>
              <a:t>Both arms run identical tools and thresholds. The only variable is the transport.</a:t>
            </a:r>
          </a:p>
        </p:txBody>
      </p:sp>
      <p:sp>
        <p:nvSpPr>
          <p:cNvPr id="200" name="Card201"/>
          <p:cNvSpPr/>
          <p:nvPr/>
        </p:nvSpPr>
        <p:spPr>
          <a:xfrm>
            <a:off x="825500" y="3073400"/>
            <a:ext cx="5156200" cy="1905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1" name="T202"/>
          <p:cNvSpPr txBox="1"/>
          <p:nvPr/>
        </p:nvSpPr>
        <p:spPr>
          <a:xfrm>
            <a:off x="1079500" y="3302000"/>
            <a:ext cx="4648200" cy="152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Fan-out: replies route by who asked, on one subscription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The delegator subscribes once and receives every reply — no connection per callee, no correlation table</a:t>
            </a:r>
          </a:p>
        </p:txBody>
      </p:sp>
      <p:sp>
        <p:nvSpPr>
          <p:cNvPr id="202" name="Card203"/>
          <p:cNvSpPr/>
          <p:nvPr/>
        </p:nvSpPr>
        <p:spPr>
          <a:xfrm>
            <a:off x="6184900" y="3073400"/>
            <a:ext cx="5156200" cy="19050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6438900" y="3302000"/>
            <a:ext cx="4648200" cy="152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700" b="1" i="0" dirty="0">
                <a:solidFill>
                  <a:srgbClr val="093B5F"/>
                </a:solidFill>
                <a:latin typeface="Segoe UI"/>
              </a:rPr>
              <a:t>An agent dies mid-workflow: the queue spools, the agent finishes on reconnect</a:t>
            </a:r>
          </a:p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4C5F70"/>
                </a:solidFill>
                <a:latin typeface="Segoe UI"/>
              </a:rPr>
              <a:t>The synchronous arm loses the request outright — no queue, no retry target, and client retries have nothing to retry against</a:t>
            </a:r>
          </a:p>
        </p:txBody>
      </p:sp>
    </p:spTree>
    <p:extLst>
      <p:ext uri="{BB962C8B-B14F-4D97-AF65-F5344CB8AC3E}">
        <p14:creationId xmlns:p14="http://schemas.microsoft.com/office/powerpoint/2010/main" val="2392921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800" b="1" i="0">
                <a:solidFill>
                  <a:srgbClr val="093B5F"/>
                </a:solidFill>
                <a:latin typeface="Segoe UI"/>
              </a:rPr>
              <a:t>Questions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4C5F70"/>
                </a:solidFill>
                <a:latin typeface="Segoe UI"/>
              </a:rPr>
              <a:t>Design decisions, rejected alternatives, and what surprised us</a:t>
            </a:r>
          </a:p>
        </p:txBody>
      </p:sp>
    </p:spTree>
    <p:extLst>
      <p:ext uri="{BB962C8B-B14F-4D97-AF65-F5344CB8AC3E}">
        <p14:creationId xmlns:p14="http://schemas.microsoft.com/office/powerpoint/2010/main" val="1731175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0785A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200" b="1" i="0" dirty="0">
                <a:solidFill>
                  <a:srgbClr val="093B5F"/>
                </a:solidFill>
                <a:latin typeface="Segoe UI"/>
              </a:rPr>
              <a:t>FAQ</a:t>
            </a:r>
            <a:endParaRPr sz="3200" b="1" i="0" dirty="0">
              <a:solidFill>
                <a:srgbClr val="093B5F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49424"/>
            <a:ext cx="10515600" cy="26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"Do you get exactly-once?"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No. At-least-once with idempotent consumers keyed on (orderId, exceptionId). Nobody gets exactly-once</a:t>
            </a:r>
          </a:p>
          <a:p>
            <a:pPr algn="l">
              <a:spcBef>
                <a:spcPts val="130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"Why is the order id last?"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Subscribing and looking up are different operations. Lookup is served by the audit read model, not a subscription</a:t>
            </a:r>
          </a:p>
          <a:p>
            <a:pPr algn="l">
              <a:spcBef>
                <a:spcPts val="130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"Why aren't the queues partitioned?"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Replay works only on non-partitioned queues. At scale: partition the service queues, keep audit non-partitioned</a:t>
            </a:r>
          </a:p>
          <a:p>
            <a:pPr algn="l">
              <a:spcBef>
                <a:spcPts val="130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"What surprised you?"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Three places where configuration split across components fails silently</a:t>
            </a:r>
          </a:p>
        </p:txBody>
      </p:sp>
    </p:spTree>
    <p:extLst>
      <p:ext uri="{BB962C8B-B14F-4D97-AF65-F5344CB8AC3E}">
        <p14:creationId xmlns:p14="http://schemas.microsoft.com/office/powerpoint/2010/main" val="50114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0785A"/>
                </a:solidFill>
                <a:latin typeface="Segoe UI"/>
              </a:rPr>
              <a:t>APPENDIX</a:t>
            </a:r>
            <a:endParaRPr sz="1200" b="1" i="0" dirty="0">
              <a:solidFill>
                <a:srgbClr val="00785A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9669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93B5F"/>
                </a:solidFill>
                <a:latin typeface="Segoe UI"/>
              </a:rPr>
              <a:t>Three silent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09928"/>
            <a:ext cx="10515600" cy="9525"/>
          </a:xfrm>
          <a:prstGeom prst="rect">
            <a:avLst/>
          </a:prstGeom>
          <a:solidFill>
            <a:srgbClr val="D8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49424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DMQ eligibility is publisher-side. Redelivery limits are queue-side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Set one without the other and exhausted messages are discarded while all config looks correct</a:t>
            </a:r>
          </a:p>
          <a:p>
            <a:pPr algn="l">
              <a:spcBef>
                <a:spcPts val="150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respect-ttl is refused outright on the dead message queue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A DMQ is where expired messages land. Honouring TTL there would expire them twice</a:t>
            </a:r>
          </a:p>
          <a:p>
            <a:pPr algn="l">
              <a:spcBef>
                <a:spcPts val="1500"/>
              </a:spcBef>
              <a:spcAft>
                <a:spcPts val="200"/>
              </a:spcAft>
            </a:pPr>
            <a:r>
              <a:rPr sz="1700" b="1" i="0">
                <a:solidFill>
                  <a:srgbClr val="093B5F"/>
                </a:solidFill>
                <a:latin typeface="Segoe UI"/>
              </a:rPr>
              <a:t>A mistyped connection property is dropped, not rejected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F70"/>
                </a:solidFill>
                <a:latin typeface="Segoe UI"/>
              </a:rPr>
              <a:t>It surfaces as 'mandatory properties missing', which sends you looking at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38100" cy="640080"/>
          </a:xfrm>
          <a:prstGeom prst="rect">
            <a:avLst/>
          </a:prstGeom>
          <a:solidFill>
            <a:srgbClr val="00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508406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93B5F"/>
                </a:solidFill>
                <a:latin typeface="Segoe UI"/>
              </a:rPr>
              <a:t>A pattern in the platform, not a list of gotchas. All three found by building it.</a:t>
            </a:r>
          </a:p>
        </p:txBody>
      </p:sp>
      <p:sp>
        <p:nvSpPr>
          <p:cNvPr id="8" name="SolaceWordmark">
            <a:extLst>
              <a:ext uri="{FF2B5EF4-FFF2-40B4-BE49-F238E27FC236}">
                <a16:creationId xmlns:a16="http://schemas.microsoft.com/office/drawing/2014/main" id="{7B9D5DD8-D5E9-47B0-8FB5-2301FF558672}"/>
              </a:ext>
            </a:extLst>
          </p:cNvPr>
          <p:cNvSpPr txBox="1"/>
          <p:nvPr/>
        </p:nvSpPr>
        <p:spPr>
          <a:xfrm>
            <a:off x="10325100" y="5969000"/>
            <a:ext cx="10414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093B5F"/>
                </a:solidFill>
                <a:latin typeface="Segoe UI"/>
                <a:cs typeface="Segoe UI"/>
              </a:rPr>
              <a:t>solace</a:t>
            </a:r>
          </a:p>
        </p:txBody>
      </p:sp>
      <p:sp>
        <p:nvSpPr>
          <p:cNvPr id="9" name="SolaceAccentBar">
            <a:extLst>
              <a:ext uri="{FF2B5EF4-FFF2-40B4-BE49-F238E27FC236}">
                <a16:creationId xmlns:a16="http://schemas.microsoft.com/office/drawing/2014/main" id="{198B9E09-2A81-47C1-85A7-4501EAB50780}"/>
              </a:ext>
            </a:extLst>
          </p:cNvPr>
          <p:cNvSpPr/>
          <p:nvPr/>
        </p:nvSpPr>
        <p:spPr>
          <a:xfrm>
            <a:off x="10325100" y="5867400"/>
            <a:ext cx="381000" cy="50800"/>
          </a:xfrm>
          <a:prstGeom prst="rect">
            <a:avLst/>
          </a:prstGeom>
          <a:solidFill>
            <a:srgbClr val="00C89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3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385205942]">
  <a:themeElements>
    <a:clrScheme name="Office">
      <a:dk1>
        <a:srgbClr val="0E2A3E"/>
      </a:dk1>
      <a:lt1>
        <a:srgbClr val="FFFFFF"/>
      </a:lt1>
      <a:dk2>
        <a:srgbClr val="093B5F"/>
      </a:dk2>
      <a:lt2>
        <a:srgbClr val="F1F5F8"/>
      </a:lt2>
      <a:accent1>
        <a:srgbClr val="00C895"/>
      </a:accent1>
      <a:accent2>
        <a:srgbClr val="093B5F"/>
      </a:accent2>
      <a:accent3>
        <a:srgbClr val="00785A"/>
      </a:accent3>
      <a:accent4>
        <a:srgbClr val="E07B2C"/>
      </a:accent4>
      <a:accent5>
        <a:srgbClr val="D8CFB3"/>
      </a:accent5>
      <a:accent6>
        <a:srgbClr val="4C5F70"/>
      </a:accent6>
      <a:hlink>
        <a:srgbClr val="0000FF"/>
      </a:hlink>
      <a:folHlink>
        <a:srgbClr val="800080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3856A1-79B4-459A-BC5A-B08EA17BF16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87a3fc-ece6-4610-8669-c9b8cb34e69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2164</Words>
  <Application>Microsoft Office PowerPoint</Application>
  <PresentationFormat>Widescreen</PresentationFormat>
  <Paragraphs>210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Segoe UI</vt:lpstr>
      <vt:lpstr>Office Theme [1788385205942]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tony august</cp:lastModifiedBy>
  <cp:revision>7</cp:revision>
  <cp:lastPrinted>2026-09-02T21:51:15Z</cp:lastPrinted>
  <dcterms:created xsi:type="dcterms:W3CDTF">2013-01-27T09:14:16Z</dcterms:created>
  <dcterms:modified xsi:type="dcterms:W3CDTF">2026-09-04T02:54:53Z</dcterms:modified>
  <cp:category/>
</cp:coreProperties>
</file>